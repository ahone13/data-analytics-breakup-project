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8288000" cy="10287000"/>
  <p:notesSz cx="6858000" cy="9144000"/>
  <p:embeddedFontLst>
    <p:embeddedFont>
      <p:font typeface="Poppins" panose="00000500000000000000" pitchFamily="2" charset="0"/>
      <p:regular r:id="rId29"/>
    </p:embeddedFont>
    <p:embeddedFont>
      <p:font typeface="Poppins Bold" panose="00000800000000000000" charset="0"/>
      <p:regular r:id="rId30"/>
    </p:embeddedFont>
    <p:embeddedFont>
      <p:font typeface="Poppins Italics" panose="020B0604020202020204" charset="0"/>
      <p:regular r:id="rId31"/>
    </p:embeddedFont>
    <p:embeddedFont>
      <p:font typeface="Sugo Display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73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8081" y="7054486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0" y="0"/>
                </a:moveTo>
                <a:lnTo>
                  <a:pt x="5394973" y="0"/>
                </a:lnTo>
                <a:lnTo>
                  <a:pt x="5394973" y="5385164"/>
                </a:lnTo>
                <a:lnTo>
                  <a:pt x="0" y="5385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160352" y="7383075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0" y="0"/>
                </a:moveTo>
                <a:lnTo>
                  <a:pt x="5394974" y="0"/>
                </a:lnTo>
                <a:lnTo>
                  <a:pt x="5394974" y="5385165"/>
                </a:lnTo>
                <a:lnTo>
                  <a:pt x="0" y="53851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883849" y="7054486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3" y="5385164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297178" y="7546793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3" y="5385164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-899826" y="-1099911"/>
            <a:ext cx="2019232" cy="2015561"/>
          </a:xfrm>
          <a:custGeom>
            <a:avLst/>
            <a:gdLst/>
            <a:ahLst/>
            <a:cxnLst/>
            <a:rect l="l" t="t" r="r" b="b"/>
            <a:pathLst>
              <a:path w="2019232" h="2015561">
                <a:moveTo>
                  <a:pt x="2019232" y="0"/>
                </a:moveTo>
                <a:lnTo>
                  <a:pt x="0" y="0"/>
                </a:lnTo>
                <a:lnTo>
                  <a:pt x="0" y="2015561"/>
                </a:lnTo>
                <a:lnTo>
                  <a:pt x="2019232" y="2015561"/>
                </a:lnTo>
                <a:lnTo>
                  <a:pt x="201923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-1119406" y="-915650"/>
            <a:ext cx="2019232" cy="2015561"/>
          </a:xfrm>
          <a:custGeom>
            <a:avLst/>
            <a:gdLst/>
            <a:ahLst/>
            <a:cxnLst/>
            <a:rect l="l" t="t" r="r" b="b"/>
            <a:pathLst>
              <a:path w="2019232" h="2015561">
                <a:moveTo>
                  <a:pt x="2019232" y="0"/>
                </a:moveTo>
                <a:lnTo>
                  <a:pt x="0" y="0"/>
                </a:lnTo>
                <a:lnTo>
                  <a:pt x="0" y="2015561"/>
                </a:lnTo>
                <a:lnTo>
                  <a:pt x="2019232" y="2015561"/>
                </a:lnTo>
                <a:lnTo>
                  <a:pt x="201923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162451" y="125354"/>
            <a:ext cx="3059006" cy="1453028"/>
          </a:xfrm>
          <a:custGeom>
            <a:avLst/>
            <a:gdLst/>
            <a:ahLst/>
            <a:cxnLst/>
            <a:rect l="l" t="t" r="r" b="b"/>
            <a:pathLst>
              <a:path w="3059006" h="1453028">
                <a:moveTo>
                  <a:pt x="0" y="0"/>
                </a:moveTo>
                <a:lnTo>
                  <a:pt x="3059007" y="0"/>
                </a:lnTo>
                <a:lnTo>
                  <a:pt x="3059007" y="1453028"/>
                </a:lnTo>
                <a:lnTo>
                  <a:pt x="0" y="14530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670396" y="1862200"/>
            <a:ext cx="12947209" cy="139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The anatomy of a modern breakup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3987196" y="3839646"/>
            <a:ext cx="10313608" cy="805016"/>
            <a:chOff x="0" y="0"/>
            <a:chExt cx="13751477" cy="1073355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13751477" cy="1073355"/>
              <a:chOff x="0" y="0"/>
              <a:chExt cx="2122141" cy="16564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122141" cy="165641"/>
              </a:xfrm>
              <a:custGeom>
                <a:avLst/>
                <a:gdLst/>
                <a:ahLst/>
                <a:cxnLst/>
                <a:rect l="l" t="t" r="r" b="b"/>
                <a:pathLst>
                  <a:path w="2122141" h="165641">
                    <a:moveTo>
                      <a:pt x="14661" y="0"/>
                    </a:moveTo>
                    <a:lnTo>
                      <a:pt x="2107480" y="0"/>
                    </a:lnTo>
                    <a:cubicBezTo>
                      <a:pt x="2115577" y="0"/>
                      <a:pt x="2122141" y="6564"/>
                      <a:pt x="2122141" y="14661"/>
                    </a:cubicBezTo>
                    <a:lnTo>
                      <a:pt x="2122141" y="150980"/>
                    </a:lnTo>
                    <a:cubicBezTo>
                      <a:pt x="2122141" y="154868"/>
                      <a:pt x="2120597" y="158598"/>
                      <a:pt x="2117847" y="161347"/>
                    </a:cubicBezTo>
                    <a:cubicBezTo>
                      <a:pt x="2115098" y="164097"/>
                      <a:pt x="2111369" y="165641"/>
                      <a:pt x="2107480" y="165641"/>
                    </a:cubicBezTo>
                    <a:lnTo>
                      <a:pt x="14661" y="165641"/>
                    </a:lnTo>
                    <a:cubicBezTo>
                      <a:pt x="10773" y="165641"/>
                      <a:pt x="7044" y="164097"/>
                      <a:pt x="4294" y="161347"/>
                    </a:cubicBezTo>
                    <a:cubicBezTo>
                      <a:pt x="1545" y="158598"/>
                      <a:pt x="0" y="154868"/>
                      <a:pt x="0" y="150980"/>
                    </a:cubicBezTo>
                    <a:lnTo>
                      <a:pt x="0" y="14661"/>
                    </a:lnTo>
                    <a:cubicBezTo>
                      <a:pt x="0" y="10773"/>
                      <a:pt x="1545" y="7044"/>
                      <a:pt x="4294" y="4294"/>
                    </a:cubicBezTo>
                    <a:cubicBezTo>
                      <a:pt x="7044" y="1545"/>
                      <a:pt x="10773" y="0"/>
                      <a:pt x="14661" y="0"/>
                    </a:cubicBezTo>
                    <a:close/>
                  </a:path>
                </a:pathLst>
              </a:custGeom>
              <a:solidFill>
                <a:srgbClr val="4B164C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66675"/>
                <a:ext cx="2122141" cy="2323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242127" y="220236"/>
              <a:ext cx="13267223" cy="566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F2F2F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 Multi-Dataset Sentiment &amp; Engagement Analytics Pipeline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231360" y="5368562"/>
            <a:ext cx="7825279" cy="459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6"/>
              </a:lnSpc>
              <a:spcBef>
                <a:spcPct val="0"/>
              </a:spcBef>
            </a:pPr>
            <a:r>
              <a:rPr lang="en-US" sz="254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Faculty of Data Science - DS26 Data Analytics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840064" y="6572815"/>
            <a:ext cx="6607871" cy="1953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Presented by : O’kah Ahone Ebwekoh | Muhammad Sharjeel | Tharun Kumar 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Matricules : 80770239 | 99871705 | 74937166</a:t>
            </a:r>
          </a:p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Supervisor : Prof. Dr. Nor Aziza Hitam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Year :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128713"/>
            <a:ext cx="19116675" cy="8029575"/>
            <a:chOff x="0" y="0"/>
            <a:chExt cx="3933472" cy="16521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33472" cy="1652176"/>
            </a:xfrm>
            <a:custGeom>
              <a:avLst/>
              <a:gdLst/>
              <a:ahLst/>
              <a:cxnLst/>
              <a:rect l="l" t="t" r="r" b="b"/>
              <a:pathLst>
                <a:path w="3933472" h="1652176">
                  <a:moveTo>
                    <a:pt x="7910" y="0"/>
                  </a:moveTo>
                  <a:lnTo>
                    <a:pt x="3925562" y="0"/>
                  </a:lnTo>
                  <a:cubicBezTo>
                    <a:pt x="3929931" y="0"/>
                    <a:pt x="3933472" y="3541"/>
                    <a:pt x="3933472" y="7910"/>
                  </a:cubicBezTo>
                  <a:lnTo>
                    <a:pt x="3933472" y="1644266"/>
                  </a:lnTo>
                  <a:cubicBezTo>
                    <a:pt x="3933472" y="1646364"/>
                    <a:pt x="3932639" y="1648376"/>
                    <a:pt x="3931155" y="1649859"/>
                  </a:cubicBezTo>
                  <a:cubicBezTo>
                    <a:pt x="3929672" y="1651343"/>
                    <a:pt x="3927660" y="1652176"/>
                    <a:pt x="3925562" y="1652176"/>
                  </a:cubicBezTo>
                  <a:lnTo>
                    <a:pt x="7910" y="1652176"/>
                  </a:lnTo>
                  <a:cubicBezTo>
                    <a:pt x="5812" y="1652176"/>
                    <a:pt x="3800" y="1651343"/>
                    <a:pt x="2317" y="1649859"/>
                  </a:cubicBezTo>
                  <a:cubicBezTo>
                    <a:pt x="833" y="1648376"/>
                    <a:pt x="0" y="1646364"/>
                    <a:pt x="0" y="1644266"/>
                  </a:cubicBezTo>
                  <a:lnTo>
                    <a:pt x="0" y="7910"/>
                  </a:lnTo>
                  <a:cubicBezTo>
                    <a:pt x="0" y="3541"/>
                    <a:pt x="3541" y="0"/>
                    <a:pt x="7910" y="0"/>
                  </a:cubicBezTo>
                  <a:close/>
                </a:path>
              </a:pathLst>
            </a:custGeom>
            <a:solidFill>
              <a:srgbClr val="4B164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933472" cy="1690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840411" y="2145792"/>
            <a:ext cx="2989870" cy="450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40411" y="5809057"/>
            <a:ext cx="2989870" cy="450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Checkpoint 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40411" y="4018701"/>
            <a:ext cx="2989870" cy="450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Checkpoint 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12661" y="1345520"/>
            <a:ext cx="4946639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F2F2F2"/>
                </a:solidFill>
                <a:latin typeface="Sugo Display"/>
                <a:ea typeface="Sugo Display"/>
                <a:cs typeface="Sugo Display"/>
                <a:sym typeface="Sugo Display"/>
              </a:rPr>
              <a:t>Summary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1860213"/>
            <a:ext cx="1100208" cy="1098208"/>
            <a:chOff x="0" y="0"/>
            <a:chExt cx="1466944" cy="146427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66944" cy="1464277"/>
            </a:xfrm>
            <a:custGeom>
              <a:avLst/>
              <a:gdLst/>
              <a:ahLst/>
              <a:cxnLst/>
              <a:rect l="l" t="t" r="r" b="b"/>
              <a:pathLst>
                <a:path w="1466944" h="1464277">
                  <a:moveTo>
                    <a:pt x="0" y="0"/>
                  </a:moveTo>
                  <a:lnTo>
                    <a:pt x="1466944" y="0"/>
                  </a:lnTo>
                  <a:lnTo>
                    <a:pt x="1466944" y="1464277"/>
                  </a:lnTo>
                  <a:lnTo>
                    <a:pt x="0" y="1464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268749" y="396648"/>
              <a:ext cx="929447" cy="69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3691845"/>
            <a:ext cx="1100208" cy="1098208"/>
            <a:chOff x="0" y="0"/>
            <a:chExt cx="1466944" cy="14642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66944" cy="1464277"/>
            </a:xfrm>
            <a:custGeom>
              <a:avLst/>
              <a:gdLst/>
              <a:ahLst/>
              <a:cxnLst/>
              <a:rect l="l" t="t" r="r" b="b"/>
              <a:pathLst>
                <a:path w="1466944" h="1464277">
                  <a:moveTo>
                    <a:pt x="0" y="0"/>
                  </a:moveTo>
                  <a:lnTo>
                    <a:pt x="1466944" y="0"/>
                  </a:lnTo>
                  <a:lnTo>
                    <a:pt x="1466944" y="1464277"/>
                  </a:lnTo>
                  <a:lnTo>
                    <a:pt x="0" y="1464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268749" y="396648"/>
              <a:ext cx="929447" cy="69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2.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028700" y="7355110"/>
            <a:ext cx="1100208" cy="1098208"/>
          </a:xfrm>
          <a:custGeom>
            <a:avLst/>
            <a:gdLst/>
            <a:ahLst/>
            <a:cxnLst/>
            <a:rect l="l" t="t" r="r" b="b"/>
            <a:pathLst>
              <a:path w="1100208" h="1098208">
                <a:moveTo>
                  <a:pt x="0" y="0"/>
                </a:moveTo>
                <a:lnTo>
                  <a:pt x="1100208" y="0"/>
                </a:lnTo>
                <a:lnTo>
                  <a:pt x="1100208" y="1098208"/>
                </a:lnTo>
                <a:lnTo>
                  <a:pt x="0" y="1098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230261" y="7631165"/>
            <a:ext cx="69708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40411" y="7681966"/>
            <a:ext cx="2989870" cy="450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Checkpoint 3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28700" y="5523478"/>
            <a:ext cx="1100208" cy="1098208"/>
            <a:chOff x="0" y="0"/>
            <a:chExt cx="1466944" cy="146427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66944" cy="1464277"/>
            </a:xfrm>
            <a:custGeom>
              <a:avLst/>
              <a:gdLst/>
              <a:ahLst/>
              <a:cxnLst/>
              <a:rect l="l" t="t" r="r" b="b"/>
              <a:pathLst>
                <a:path w="1466944" h="1464277">
                  <a:moveTo>
                    <a:pt x="0" y="0"/>
                  </a:moveTo>
                  <a:lnTo>
                    <a:pt x="1466944" y="0"/>
                  </a:lnTo>
                  <a:lnTo>
                    <a:pt x="1466944" y="1464277"/>
                  </a:lnTo>
                  <a:lnTo>
                    <a:pt x="0" y="1464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268749" y="396648"/>
              <a:ext cx="929447" cy="69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60904" y="3691845"/>
            <a:ext cx="6752305" cy="1098208"/>
            <a:chOff x="0" y="0"/>
            <a:chExt cx="9003073" cy="146427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66944" cy="1464277"/>
            </a:xfrm>
            <a:custGeom>
              <a:avLst/>
              <a:gdLst/>
              <a:ahLst/>
              <a:cxnLst/>
              <a:rect l="l" t="t" r="r" b="b"/>
              <a:pathLst>
                <a:path w="1466944" h="1464277">
                  <a:moveTo>
                    <a:pt x="0" y="0"/>
                  </a:moveTo>
                  <a:lnTo>
                    <a:pt x="1466944" y="0"/>
                  </a:lnTo>
                  <a:lnTo>
                    <a:pt x="1466944" y="1464277"/>
                  </a:lnTo>
                  <a:lnTo>
                    <a:pt x="0" y="1464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268749" y="396648"/>
              <a:ext cx="929447" cy="69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19444" y="461207"/>
              <a:ext cx="6583629" cy="5757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2500">
                  <a:solidFill>
                    <a:srgbClr val="F2F2F2"/>
                  </a:solidFill>
                  <a:latin typeface="Poppins"/>
                  <a:ea typeface="Poppins"/>
                  <a:cs typeface="Poppins"/>
                  <a:sym typeface="Poppins"/>
                </a:rPr>
                <a:t>Checkpoint 4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8160904" y="5523478"/>
            <a:ext cx="1100208" cy="1098208"/>
          </a:xfrm>
          <a:custGeom>
            <a:avLst/>
            <a:gdLst/>
            <a:ahLst/>
            <a:cxnLst/>
            <a:rect l="l" t="t" r="r" b="b"/>
            <a:pathLst>
              <a:path w="1100208" h="1098208">
                <a:moveTo>
                  <a:pt x="0" y="0"/>
                </a:moveTo>
                <a:lnTo>
                  <a:pt x="1100208" y="0"/>
                </a:lnTo>
                <a:lnTo>
                  <a:pt x="1100208" y="1098207"/>
                </a:lnTo>
                <a:lnTo>
                  <a:pt x="0" y="10982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8362465" y="5799532"/>
            <a:ext cx="69708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6.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75487" y="5850333"/>
            <a:ext cx="7283813" cy="450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Final findings, recommendations &amp; limitations</a:t>
            </a:r>
          </a:p>
        </p:txBody>
      </p:sp>
      <p:sp>
        <p:nvSpPr>
          <p:cNvPr id="28" name="Freeform 28"/>
          <p:cNvSpPr/>
          <p:nvPr/>
        </p:nvSpPr>
        <p:spPr>
          <a:xfrm>
            <a:off x="8160904" y="7355110"/>
            <a:ext cx="1100208" cy="1098208"/>
          </a:xfrm>
          <a:custGeom>
            <a:avLst/>
            <a:gdLst/>
            <a:ahLst/>
            <a:cxnLst/>
            <a:rect l="l" t="t" r="r" b="b"/>
            <a:pathLst>
              <a:path w="1100208" h="1098208">
                <a:moveTo>
                  <a:pt x="0" y="0"/>
                </a:moveTo>
                <a:lnTo>
                  <a:pt x="1100208" y="0"/>
                </a:lnTo>
                <a:lnTo>
                  <a:pt x="1100208" y="1098208"/>
                </a:lnTo>
                <a:lnTo>
                  <a:pt x="0" y="10982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8362465" y="7631165"/>
            <a:ext cx="697085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7.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975487" y="7681966"/>
            <a:ext cx="5688457" cy="450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Future improvements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5505" y="346075"/>
            <a:ext cx="5269598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Project overview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5883849" y="7054486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3" y="5385164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97178" y="7546793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3" y="5385164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35505" y="1766444"/>
            <a:ext cx="4741180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DD88CF"/>
                </a:solidFill>
                <a:latin typeface="Poppins Bold"/>
                <a:ea typeface="Poppins Bold"/>
                <a:cs typeface="Poppins Bold"/>
                <a:sym typeface="Poppins Bold"/>
              </a:rPr>
              <a:t>what this project is about.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419232" y="3942195"/>
            <a:ext cx="2891721" cy="1870172"/>
            <a:chOff x="0" y="0"/>
            <a:chExt cx="635000" cy="4106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" cy="410676"/>
            </a:xfrm>
            <a:custGeom>
              <a:avLst/>
              <a:gdLst/>
              <a:ahLst/>
              <a:cxnLst/>
              <a:rect l="l" t="t" r="r" b="b"/>
              <a:pathLst>
                <a:path w="635000" h="410676">
                  <a:moveTo>
                    <a:pt x="52290" y="0"/>
                  </a:moveTo>
                  <a:lnTo>
                    <a:pt x="582710" y="0"/>
                  </a:lnTo>
                  <a:cubicBezTo>
                    <a:pt x="596578" y="0"/>
                    <a:pt x="609878" y="5509"/>
                    <a:pt x="619684" y="15316"/>
                  </a:cubicBezTo>
                  <a:cubicBezTo>
                    <a:pt x="629491" y="25122"/>
                    <a:pt x="635000" y="38422"/>
                    <a:pt x="635000" y="52290"/>
                  </a:cubicBezTo>
                  <a:lnTo>
                    <a:pt x="635000" y="358385"/>
                  </a:lnTo>
                  <a:cubicBezTo>
                    <a:pt x="635000" y="372254"/>
                    <a:pt x="629491" y="385554"/>
                    <a:pt x="619684" y="395360"/>
                  </a:cubicBezTo>
                  <a:cubicBezTo>
                    <a:pt x="609878" y="405166"/>
                    <a:pt x="596578" y="410676"/>
                    <a:pt x="582710" y="410676"/>
                  </a:cubicBezTo>
                  <a:lnTo>
                    <a:pt x="52290" y="410676"/>
                  </a:lnTo>
                  <a:cubicBezTo>
                    <a:pt x="38422" y="410676"/>
                    <a:pt x="25122" y="405166"/>
                    <a:pt x="15316" y="395360"/>
                  </a:cubicBezTo>
                  <a:cubicBezTo>
                    <a:pt x="5509" y="385554"/>
                    <a:pt x="0" y="372254"/>
                    <a:pt x="0" y="358385"/>
                  </a:cubicBezTo>
                  <a:lnTo>
                    <a:pt x="0" y="52290"/>
                  </a:lnTo>
                  <a:cubicBezTo>
                    <a:pt x="0" y="38422"/>
                    <a:pt x="5509" y="25122"/>
                    <a:pt x="15316" y="15316"/>
                  </a:cubicBezTo>
                  <a:cubicBezTo>
                    <a:pt x="25122" y="5509"/>
                    <a:pt x="38422" y="0"/>
                    <a:pt x="52290" y="0"/>
                  </a:cubicBezTo>
                  <a:close/>
                </a:path>
              </a:pathLst>
            </a:custGeom>
            <a:solidFill>
              <a:srgbClr val="4B164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635000" cy="477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92852" y="4197831"/>
            <a:ext cx="2144481" cy="1254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2F2F2"/>
                </a:solidFill>
                <a:latin typeface="Poppins Bold"/>
                <a:ea typeface="Poppins Bold"/>
                <a:cs typeface="Poppins Bold"/>
                <a:sym typeface="Poppins Bold"/>
              </a:rPr>
              <a:t>2 datasets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284725" y="3942195"/>
            <a:ext cx="2891721" cy="1870172"/>
            <a:chOff x="0" y="0"/>
            <a:chExt cx="635000" cy="4106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" cy="410676"/>
            </a:xfrm>
            <a:custGeom>
              <a:avLst/>
              <a:gdLst/>
              <a:ahLst/>
              <a:cxnLst/>
              <a:rect l="l" t="t" r="r" b="b"/>
              <a:pathLst>
                <a:path w="635000" h="410676">
                  <a:moveTo>
                    <a:pt x="52290" y="0"/>
                  </a:moveTo>
                  <a:lnTo>
                    <a:pt x="582710" y="0"/>
                  </a:lnTo>
                  <a:cubicBezTo>
                    <a:pt x="596578" y="0"/>
                    <a:pt x="609878" y="5509"/>
                    <a:pt x="619684" y="15316"/>
                  </a:cubicBezTo>
                  <a:cubicBezTo>
                    <a:pt x="629491" y="25122"/>
                    <a:pt x="635000" y="38422"/>
                    <a:pt x="635000" y="52290"/>
                  </a:cubicBezTo>
                  <a:lnTo>
                    <a:pt x="635000" y="358385"/>
                  </a:lnTo>
                  <a:cubicBezTo>
                    <a:pt x="635000" y="372254"/>
                    <a:pt x="629491" y="385554"/>
                    <a:pt x="619684" y="395360"/>
                  </a:cubicBezTo>
                  <a:cubicBezTo>
                    <a:pt x="609878" y="405166"/>
                    <a:pt x="596578" y="410676"/>
                    <a:pt x="582710" y="410676"/>
                  </a:cubicBezTo>
                  <a:lnTo>
                    <a:pt x="52290" y="410676"/>
                  </a:lnTo>
                  <a:cubicBezTo>
                    <a:pt x="38422" y="410676"/>
                    <a:pt x="25122" y="405166"/>
                    <a:pt x="15316" y="395360"/>
                  </a:cubicBezTo>
                  <a:cubicBezTo>
                    <a:pt x="5509" y="385554"/>
                    <a:pt x="0" y="372254"/>
                    <a:pt x="0" y="358385"/>
                  </a:cubicBezTo>
                  <a:lnTo>
                    <a:pt x="0" y="52290"/>
                  </a:lnTo>
                  <a:cubicBezTo>
                    <a:pt x="0" y="38422"/>
                    <a:pt x="5509" y="25122"/>
                    <a:pt x="15316" y="15316"/>
                  </a:cubicBezTo>
                  <a:cubicBezTo>
                    <a:pt x="25122" y="5509"/>
                    <a:pt x="38422" y="0"/>
                    <a:pt x="52290" y="0"/>
                  </a:cubicBezTo>
                  <a:close/>
                </a:path>
              </a:pathLst>
            </a:custGeom>
            <a:solidFill>
              <a:srgbClr val="7F338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635000" cy="477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658346" y="4197831"/>
            <a:ext cx="2144481" cy="1254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2F2F2"/>
                </a:solidFill>
                <a:latin typeface="Poppins Bold"/>
                <a:ea typeface="Poppins Bold"/>
                <a:cs typeface="Poppins Bold"/>
                <a:sym typeface="Poppins Bold"/>
              </a:rPr>
              <a:t>2833 posts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147996" y="3942195"/>
            <a:ext cx="7720772" cy="1870172"/>
            <a:chOff x="0" y="0"/>
            <a:chExt cx="1695423" cy="41067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95423" cy="410676"/>
            </a:xfrm>
            <a:custGeom>
              <a:avLst/>
              <a:gdLst/>
              <a:ahLst/>
              <a:cxnLst/>
              <a:rect l="l" t="t" r="r" b="b"/>
              <a:pathLst>
                <a:path w="1695423" h="410676">
                  <a:moveTo>
                    <a:pt x="19585" y="0"/>
                  </a:moveTo>
                  <a:lnTo>
                    <a:pt x="1675838" y="0"/>
                  </a:lnTo>
                  <a:cubicBezTo>
                    <a:pt x="1681032" y="0"/>
                    <a:pt x="1686014" y="2063"/>
                    <a:pt x="1689687" y="5736"/>
                  </a:cubicBezTo>
                  <a:cubicBezTo>
                    <a:pt x="1693359" y="9409"/>
                    <a:pt x="1695423" y="14391"/>
                    <a:pt x="1695423" y="19585"/>
                  </a:cubicBezTo>
                  <a:lnTo>
                    <a:pt x="1695423" y="391091"/>
                  </a:lnTo>
                  <a:cubicBezTo>
                    <a:pt x="1695423" y="396285"/>
                    <a:pt x="1693359" y="401267"/>
                    <a:pt x="1689687" y="404939"/>
                  </a:cubicBezTo>
                  <a:cubicBezTo>
                    <a:pt x="1686014" y="408612"/>
                    <a:pt x="1681032" y="410676"/>
                    <a:pt x="1675838" y="410676"/>
                  </a:cubicBezTo>
                  <a:lnTo>
                    <a:pt x="19585" y="410676"/>
                  </a:lnTo>
                  <a:cubicBezTo>
                    <a:pt x="14391" y="410676"/>
                    <a:pt x="9409" y="408612"/>
                    <a:pt x="5736" y="404939"/>
                  </a:cubicBezTo>
                  <a:cubicBezTo>
                    <a:pt x="2063" y="401267"/>
                    <a:pt x="0" y="396285"/>
                    <a:pt x="0" y="391091"/>
                  </a:cubicBezTo>
                  <a:lnTo>
                    <a:pt x="0" y="19585"/>
                  </a:lnTo>
                  <a:cubicBezTo>
                    <a:pt x="0" y="14391"/>
                    <a:pt x="2063" y="9409"/>
                    <a:pt x="5736" y="5736"/>
                  </a:cubicBezTo>
                  <a:cubicBezTo>
                    <a:pt x="9409" y="2063"/>
                    <a:pt x="14391" y="0"/>
                    <a:pt x="19585" y="0"/>
                  </a:cubicBezTo>
                  <a:close/>
                </a:path>
              </a:pathLst>
            </a:custGeom>
            <a:solidFill>
              <a:srgbClr val="BF5CC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1695423" cy="477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673793" y="4404206"/>
            <a:ext cx="6669179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2F2F2"/>
                </a:solidFill>
                <a:latin typeface="Poppins Bold"/>
                <a:ea typeface="Poppins Bold"/>
                <a:cs typeface="Poppins Bold"/>
                <a:sym typeface="Poppins Bold"/>
              </a:rPr>
              <a:t>1 question : What makes a relationship post go viral — emotion or behavior?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93783" y="2354473"/>
            <a:ext cx="8900435" cy="2444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0"/>
              </a:lnSpc>
              <a:spcBef>
                <a:spcPct val="0"/>
              </a:spcBef>
            </a:pPr>
            <a:r>
              <a:rPr lang="en-US" sz="14000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Checkpoint 1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5883849" y="7054486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3" y="5385164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97178" y="7546793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3" y="5385164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404151" y="-1635109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5"/>
                </a:lnTo>
                <a:lnTo>
                  <a:pt x="5394973" y="5385165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-2990822" y="-1142802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5"/>
                </a:lnTo>
                <a:lnTo>
                  <a:pt x="5394973" y="5385165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15523" y="4962525"/>
            <a:ext cx="8900435" cy="139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7F3380"/>
                </a:solidFill>
                <a:latin typeface="Sugo Display"/>
                <a:ea typeface="Sugo Display"/>
                <a:cs typeface="Sugo Display"/>
                <a:sym typeface="Sugo Display"/>
              </a:rPr>
              <a:t>Project Proposal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00355" y="2713469"/>
            <a:ext cx="1334524" cy="1334524"/>
          </a:xfrm>
          <a:custGeom>
            <a:avLst/>
            <a:gdLst/>
            <a:ahLst/>
            <a:cxnLst/>
            <a:rect l="l" t="t" r="r" b="b"/>
            <a:pathLst>
              <a:path w="1334524" h="1334524">
                <a:moveTo>
                  <a:pt x="0" y="0"/>
                </a:moveTo>
                <a:lnTo>
                  <a:pt x="1334524" y="0"/>
                </a:lnTo>
                <a:lnTo>
                  <a:pt x="1334524" y="1334524"/>
                </a:lnTo>
                <a:lnTo>
                  <a:pt x="0" y="1334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882625" y="5487785"/>
            <a:ext cx="1324379" cy="1324379"/>
          </a:xfrm>
          <a:custGeom>
            <a:avLst/>
            <a:gdLst/>
            <a:ahLst/>
            <a:cxnLst/>
            <a:rect l="l" t="t" r="r" b="b"/>
            <a:pathLst>
              <a:path w="1324379" h="1324379">
                <a:moveTo>
                  <a:pt x="0" y="0"/>
                </a:moveTo>
                <a:lnTo>
                  <a:pt x="1324379" y="0"/>
                </a:lnTo>
                <a:lnTo>
                  <a:pt x="1324379" y="1324380"/>
                </a:lnTo>
                <a:lnTo>
                  <a:pt x="0" y="13243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863673" y="8393763"/>
            <a:ext cx="1334524" cy="1334524"/>
          </a:xfrm>
          <a:custGeom>
            <a:avLst/>
            <a:gdLst/>
            <a:ahLst/>
            <a:cxnLst/>
            <a:rect l="l" t="t" r="r" b="b"/>
            <a:pathLst>
              <a:path w="1334524" h="1334524">
                <a:moveTo>
                  <a:pt x="0" y="0"/>
                </a:moveTo>
                <a:lnTo>
                  <a:pt x="1334524" y="0"/>
                </a:lnTo>
                <a:lnTo>
                  <a:pt x="1334524" y="1334524"/>
                </a:lnTo>
                <a:lnTo>
                  <a:pt x="0" y="13345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21197" y="242791"/>
            <a:ext cx="8723686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99012" y="3185910"/>
            <a:ext cx="4921816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Online relationship forums generate thousands of posts daily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30935" y="5739015"/>
            <a:ext cx="4921816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systematic way to categorize narratives or predict which posts gain traction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62271" y="8327088"/>
            <a:ext cx="4921816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Traditional NLP focuses on sentiment but ignores structural engagement drivers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536534" y="8759437"/>
            <a:ext cx="2117648" cy="2113797"/>
          </a:xfrm>
          <a:custGeom>
            <a:avLst/>
            <a:gdLst/>
            <a:ahLst/>
            <a:cxnLst/>
            <a:rect l="l" t="t" r="r" b="b"/>
            <a:pathLst>
              <a:path w="2117648" h="2113797">
                <a:moveTo>
                  <a:pt x="2117648" y="0"/>
                </a:moveTo>
                <a:lnTo>
                  <a:pt x="0" y="0"/>
                </a:lnTo>
                <a:lnTo>
                  <a:pt x="0" y="2113797"/>
                </a:lnTo>
                <a:lnTo>
                  <a:pt x="2117648" y="2113797"/>
                </a:lnTo>
                <a:lnTo>
                  <a:pt x="211764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766815" y="8952678"/>
            <a:ext cx="2117648" cy="2113797"/>
          </a:xfrm>
          <a:custGeom>
            <a:avLst/>
            <a:gdLst/>
            <a:ahLst/>
            <a:cxnLst/>
            <a:rect l="l" t="t" r="r" b="b"/>
            <a:pathLst>
              <a:path w="2117648" h="2113797">
                <a:moveTo>
                  <a:pt x="2117647" y="0"/>
                </a:moveTo>
                <a:lnTo>
                  <a:pt x="0" y="0"/>
                </a:lnTo>
                <a:lnTo>
                  <a:pt x="0" y="2113798"/>
                </a:lnTo>
                <a:lnTo>
                  <a:pt x="2117647" y="2113798"/>
                </a:lnTo>
                <a:lnTo>
                  <a:pt x="211764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82881" y="2383395"/>
            <a:ext cx="2064509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 objectives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46075"/>
            <a:ext cx="10381022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Objectives and expected outcomes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65085" y="3292561"/>
            <a:ext cx="3894888" cy="1833764"/>
            <a:chOff x="0" y="0"/>
            <a:chExt cx="5193184" cy="2445018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5193184" cy="2445018"/>
              <a:chOff x="0" y="0"/>
              <a:chExt cx="1350993" cy="63606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350993" cy="636065"/>
              </a:xfrm>
              <a:custGeom>
                <a:avLst/>
                <a:gdLst/>
                <a:ahLst/>
                <a:cxnLst/>
                <a:rect l="l" t="t" r="r" b="b"/>
                <a:pathLst>
                  <a:path w="1350993" h="636065">
                    <a:moveTo>
                      <a:pt x="38823" y="0"/>
                    </a:moveTo>
                    <a:lnTo>
                      <a:pt x="1312170" y="0"/>
                    </a:lnTo>
                    <a:cubicBezTo>
                      <a:pt x="1322466" y="0"/>
                      <a:pt x="1332341" y="4090"/>
                      <a:pt x="1339622" y="11371"/>
                    </a:cubicBezTo>
                    <a:cubicBezTo>
                      <a:pt x="1346902" y="18651"/>
                      <a:pt x="1350993" y="28526"/>
                      <a:pt x="1350993" y="38823"/>
                    </a:cubicBezTo>
                    <a:lnTo>
                      <a:pt x="1350993" y="597242"/>
                    </a:lnTo>
                    <a:cubicBezTo>
                      <a:pt x="1350993" y="607539"/>
                      <a:pt x="1346902" y="617413"/>
                      <a:pt x="1339622" y="624694"/>
                    </a:cubicBezTo>
                    <a:cubicBezTo>
                      <a:pt x="1332341" y="631975"/>
                      <a:pt x="1322466" y="636065"/>
                      <a:pt x="1312170" y="636065"/>
                    </a:cubicBezTo>
                    <a:lnTo>
                      <a:pt x="38823" y="636065"/>
                    </a:lnTo>
                    <a:cubicBezTo>
                      <a:pt x="28526" y="636065"/>
                      <a:pt x="18651" y="631975"/>
                      <a:pt x="11371" y="624694"/>
                    </a:cubicBezTo>
                    <a:cubicBezTo>
                      <a:pt x="4090" y="617413"/>
                      <a:pt x="0" y="607539"/>
                      <a:pt x="0" y="597242"/>
                    </a:cubicBezTo>
                    <a:lnTo>
                      <a:pt x="0" y="38823"/>
                    </a:lnTo>
                    <a:cubicBezTo>
                      <a:pt x="0" y="28526"/>
                      <a:pt x="4090" y="18651"/>
                      <a:pt x="11371" y="11371"/>
                    </a:cubicBezTo>
                    <a:cubicBezTo>
                      <a:pt x="18651" y="4090"/>
                      <a:pt x="28526" y="0"/>
                      <a:pt x="38823" y="0"/>
                    </a:cubicBezTo>
                    <a:close/>
                  </a:path>
                </a:pathLst>
              </a:custGeom>
              <a:solidFill>
                <a:srgbClr val="4B164C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66675"/>
                <a:ext cx="1350993" cy="70274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39458" y="484851"/>
              <a:ext cx="4714267" cy="1408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2F2F2"/>
                  </a:solidFill>
                  <a:latin typeface="Poppins"/>
                  <a:ea typeface="Poppins"/>
                  <a:cs typeface="Poppins"/>
                  <a:sym typeface="Poppins"/>
                </a:rPr>
                <a:t>Clean and merge 2,800+ Reddit posts into a unified pipeline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98323" y="3292561"/>
            <a:ext cx="3894888" cy="1833764"/>
            <a:chOff x="0" y="0"/>
            <a:chExt cx="1350993" cy="6360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50993" cy="636065"/>
            </a:xfrm>
            <a:custGeom>
              <a:avLst/>
              <a:gdLst/>
              <a:ahLst/>
              <a:cxnLst/>
              <a:rect l="l" t="t" r="r" b="b"/>
              <a:pathLst>
                <a:path w="1350993" h="636065">
                  <a:moveTo>
                    <a:pt x="38823" y="0"/>
                  </a:moveTo>
                  <a:lnTo>
                    <a:pt x="1312170" y="0"/>
                  </a:lnTo>
                  <a:cubicBezTo>
                    <a:pt x="1322466" y="0"/>
                    <a:pt x="1332341" y="4090"/>
                    <a:pt x="1339622" y="11371"/>
                  </a:cubicBezTo>
                  <a:cubicBezTo>
                    <a:pt x="1346902" y="18651"/>
                    <a:pt x="1350993" y="28526"/>
                    <a:pt x="1350993" y="38823"/>
                  </a:cubicBezTo>
                  <a:lnTo>
                    <a:pt x="1350993" y="597242"/>
                  </a:lnTo>
                  <a:cubicBezTo>
                    <a:pt x="1350993" y="607539"/>
                    <a:pt x="1346902" y="617413"/>
                    <a:pt x="1339622" y="624694"/>
                  </a:cubicBezTo>
                  <a:cubicBezTo>
                    <a:pt x="1332341" y="631975"/>
                    <a:pt x="1322466" y="636065"/>
                    <a:pt x="1312170" y="636065"/>
                  </a:cubicBezTo>
                  <a:lnTo>
                    <a:pt x="38823" y="636065"/>
                  </a:lnTo>
                  <a:cubicBezTo>
                    <a:pt x="28526" y="636065"/>
                    <a:pt x="18651" y="631975"/>
                    <a:pt x="11371" y="624694"/>
                  </a:cubicBezTo>
                  <a:cubicBezTo>
                    <a:pt x="4090" y="617413"/>
                    <a:pt x="0" y="607539"/>
                    <a:pt x="0" y="597242"/>
                  </a:cubicBezTo>
                  <a:lnTo>
                    <a:pt x="0" y="38823"/>
                  </a:lnTo>
                  <a:cubicBezTo>
                    <a:pt x="0" y="28526"/>
                    <a:pt x="4090" y="18651"/>
                    <a:pt x="11371" y="11371"/>
                  </a:cubicBezTo>
                  <a:cubicBezTo>
                    <a:pt x="18651" y="4090"/>
                    <a:pt x="28526" y="0"/>
                    <a:pt x="38823" y="0"/>
                  </a:cubicBezTo>
                  <a:close/>
                </a:path>
              </a:pathLst>
            </a:custGeom>
            <a:solidFill>
              <a:srgbClr val="4B164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350993" cy="702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377917" y="3639530"/>
            <a:ext cx="3535700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Cluster posts into thematic categories using LDA topic modeling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3128027" y="3292561"/>
            <a:ext cx="3894888" cy="1833764"/>
            <a:chOff x="0" y="0"/>
            <a:chExt cx="1350993" cy="63606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50993" cy="636065"/>
            </a:xfrm>
            <a:custGeom>
              <a:avLst/>
              <a:gdLst/>
              <a:ahLst/>
              <a:cxnLst/>
              <a:rect l="l" t="t" r="r" b="b"/>
              <a:pathLst>
                <a:path w="1350993" h="636065">
                  <a:moveTo>
                    <a:pt x="38823" y="0"/>
                  </a:moveTo>
                  <a:lnTo>
                    <a:pt x="1312170" y="0"/>
                  </a:lnTo>
                  <a:cubicBezTo>
                    <a:pt x="1322466" y="0"/>
                    <a:pt x="1332341" y="4090"/>
                    <a:pt x="1339622" y="11371"/>
                  </a:cubicBezTo>
                  <a:cubicBezTo>
                    <a:pt x="1346902" y="18651"/>
                    <a:pt x="1350993" y="28526"/>
                    <a:pt x="1350993" y="38823"/>
                  </a:cubicBezTo>
                  <a:lnTo>
                    <a:pt x="1350993" y="597242"/>
                  </a:lnTo>
                  <a:cubicBezTo>
                    <a:pt x="1350993" y="607539"/>
                    <a:pt x="1346902" y="617413"/>
                    <a:pt x="1339622" y="624694"/>
                  </a:cubicBezTo>
                  <a:cubicBezTo>
                    <a:pt x="1332341" y="631975"/>
                    <a:pt x="1322466" y="636065"/>
                    <a:pt x="1312170" y="636065"/>
                  </a:cubicBezTo>
                  <a:lnTo>
                    <a:pt x="38823" y="636065"/>
                  </a:lnTo>
                  <a:cubicBezTo>
                    <a:pt x="28526" y="636065"/>
                    <a:pt x="18651" y="631975"/>
                    <a:pt x="11371" y="624694"/>
                  </a:cubicBezTo>
                  <a:cubicBezTo>
                    <a:pt x="4090" y="617413"/>
                    <a:pt x="0" y="607539"/>
                    <a:pt x="0" y="597242"/>
                  </a:cubicBezTo>
                  <a:lnTo>
                    <a:pt x="0" y="38823"/>
                  </a:lnTo>
                  <a:cubicBezTo>
                    <a:pt x="0" y="28526"/>
                    <a:pt x="4090" y="18651"/>
                    <a:pt x="11371" y="11371"/>
                  </a:cubicBezTo>
                  <a:cubicBezTo>
                    <a:pt x="18651" y="4090"/>
                    <a:pt x="28526" y="0"/>
                    <a:pt x="38823" y="0"/>
                  </a:cubicBezTo>
                  <a:close/>
                </a:path>
              </a:pathLst>
            </a:custGeom>
            <a:solidFill>
              <a:srgbClr val="4B164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1350993" cy="702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3307621" y="3639530"/>
            <a:ext cx="3535700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Build and optimize classification models to predict high engagement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81114" y="6113116"/>
            <a:ext cx="3058725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Expected outputs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35541" y="7064375"/>
            <a:ext cx="4762782" cy="219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cleaned dataset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sentiment analysis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topic clusters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trained models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interactive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76817" y="2115345"/>
            <a:ext cx="6782483" cy="7142955"/>
            <a:chOff x="0" y="0"/>
            <a:chExt cx="1395573" cy="14697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5573" cy="1469744"/>
            </a:xfrm>
            <a:custGeom>
              <a:avLst/>
              <a:gdLst/>
              <a:ahLst/>
              <a:cxnLst/>
              <a:rect l="l" t="t" r="r" b="b"/>
              <a:pathLst>
                <a:path w="1395573" h="1469744">
                  <a:moveTo>
                    <a:pt x="22294" y="0"/>
                  </a:moveTo>
                  <a:lnTo>
                    <a:pt x="1373279" y="0"/>
                  </a:lnTo>
                  <a:cubicBezTo>
                    <a:pt x="1385591" y="0"/>
                    <a:pt x="1395573" y="9981"/>
                    <a:pt x="1395573" y="22294"/>
                  </a:cubicBezTo>
                  <a:lnTo>
                    <a:pt x="1395573" y="1447450"/>
                  </a:lnTo>
                  <a:cubicBezTo>
                    <a:pt x="1395573" y="1453363"/>
                    <a:pt x="1393224" y="1459033"/>
                    <a:pt x="1389043" y="1463214"/>
                  </a:cubicBezTo>
                  <a:cubicBezTo>
                    <a:pt x="1384862" y="1467395"/>
                    <a:pt x="1379191" y="1469744"/>
                    <a:pt x="1373279" y="1469744"/>
                  </a:cubicBezTo>
                  <a:lnTo>
                    <a:pt x="22294" y="1469744"/>
                  </a:lnTo>
                  <a:cubicBezTo>
                    <a:pt x="9981" y="1469744"/>
                    <a:pt x="0" y="1459763"/>
                    <a:pt x="0" y="1447450"/>
                  </a:cubicBezTo>
                  <a:lnTo>
                    <a:pt x="0" y="22294"/>
                  </a:lnTo>
                  <a:cubicBezTo>
                    <a:pt x="0" y="9981"/>
                    <a:pt x="9981" y="0"/>
                    <a:pt x="22294" y="0"/>
                  </a:cubicBezTo>
                  <a:close/>
                </a:path>
              </a:pathLst>
            </a:custGeom>
            <a:solidFill>
              <a:srgbClr val="DD88C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395573" cy="1536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871394" y="2317727"/>
            <a:ext cx="9935043" cy="2036826"/>
            <a:chOff x="0" y="0"/>
            <a:chExt cx="2044247" cy="419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44248" cy="419100"/>
            </a:xfrm>
            <a:custGeom>
              <a:avLst/>
              <a:gdLst/>
              <a:ahLst/>
              <a:cxnLst/>
              <a:rect l="l" t="t" r="r" b="b"/>
              <a:pathLst>
                <a:path w="2044248" h="419100">
                  <a:moveTo>
                    <a:pt x="15220" y="0"/>
                  </a:moveTo>
                  <a:lnTo>
                    <a:pt x="2029028" y="0"/>
                  </a:lnTo>
                  <a:cubicBezTo>
                    <a:pt x="2037433" y="0"/>
                    <a:pt x="2044248" y="6814"/>
                    <a:pt x="2044248" y="15220"/>
                  </a:cubicBezTo>
                  <a:lnTo>
                    <a:pt x="2044248" y="403880"/>
                  </a:lnTo>
                  <a:cubicBezTo>
                    <a:pt x="2044248" y="412286"/>
                    <a:pt x="2037433" y="419100"/>
                    <a:pt x="2029028" y="419100"/>
                  </a:cubicBezTo>
                  <a:lnTo>
                    <a:pt x="15220" y="419100"/>
                  </a:lnTo>
                  <a:cubicBezTo>
                    <a:pt x="6814" y="419100"/>
                    <a:pt x="0" y="412286"/>
                    <a:pt x="0" y="403880"/>
                  </a:cubicBezTo>
                  <a:lnTo>
                    <a:pt x="0" y="15220"/>
                  </a:lnTo>
                  <a:cubicBezTo>
                    <a:pt x="0" y="6814"/>
                    <a:pt x="6814" y="0"/>
                    <a:pt x="15220" y="0"/>
                  </a:cubicBezTo>
                  <a:close/>
                </a:path>
              </a:pathLst>
            </a:custGeom>
            <a:solidFill>
              <a:srgbClr val="4B164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044247" cy="485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71394" y="4620317"/>
            <a:ext cx="9935043" cy="2036826"/>
            <a:chOff x="0" y="0"/>
            <a:chExt cx="2044247" cy="419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44248" cy="419100"/>
            </a:xfrm>
            <a:custGeom>
              <a:avLst/>
              <a:gdLst/>
              <a:ahLst/>
              <a:cxnLst/>
              <a:rect l="l" t="t" r="r" b="b"/>
              <a:pathLst>
                <a:path w="2044248" h="419100">
                  <a:moveTo>
                    <a:pt x="15220" y="0"/>
                  </a:moveTo>
                  <a:lnTo>
                    <a:pt x="2029028" y="0"/>
                  </a:lnTo>
                  <a:cubicBezTo>
                    <a:pt x="2037433" y="0"/>
                    <a:pt x="2044248" y="6814"/>
                    <a:pt x="2044248" y="15220"/>
                  </a:cubicBezTo>
                  <a:lnTo>
                    <a:pt x="2044248" y="403880"/>
                  </a:lnTo>
                  <a:cubicBezTo>
                    <a:pt x="2044248" y="412286"/>
                    <a:pt x="2037433" y="419100"/>
                    <a:pt x="2029028" y="419100"/>
                  </a:cubicBezTo>
                  <a:lnTo>
                    <a:pt x="15220" y="419100"/>
                  </a:lnTo>
                  <a:cubicBezTo>
                    <a:pt x="6814" y="419100"/>
                    <a:pt x="0" y="412286"/>
                    <a:pt x="0" y="403880"/>
                  </a:cubicBezTo>
                  <a:lnTo>
                    <a:pt x="0" y="15220"/>
                  </a:lnTo>
                  <a:cubicBezTo>
                    <a:pt x="0" y="6814"/>
                    <a:pt x="6814" y="0"/>
                    <a:pt x="15220" y="0"/>
                  </a:cubicBezTo>
                  <a:close/>
                </a:path>
              </a:pathLst>
            </a:custGeom>
            <a:solidFill>
              <a:srgbClr val="4B164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2044247" cy="485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71394" y="6914318"/>
            <a:ext cx="9935043" cy="2036826"/>
            <a:chOff x="0" y="0"/>
            <a:chExt cx="2044247" cy="419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44248" cy="419100"/>
            </a:xfrm>
            <a:custGeom>
              <a:avLst/>
              <a:gdLst/>
              <a:ahLst/>
              <a:cxnLst/>
              <a:rect l="l" t="t" r="r" b="b"/>
              <a:pathLst>
                <a:path w="2044248" h="419100">
                  <a:moveTo>
                    <a:pt x="15220" y="0"/>
                  </a:moveTo>
                  <a:lnTo>
                    <a:pt x="2029028" y="0"/>
                  </a:lnTo>
                  <a:cubicBezTo>
                    <a:pt x="2037433" y="0"/>
                    <a:pt x="2044248" y="6814"/>
                    <a:pt x="2044248" y="15220"/>
                  </a:cubicBezTo>
                  <a:lnTo>
                    <a:pt x="2044248" y="403880"/>
                  </a:lnTo>
                  <a:cubicBezTo>
                    <a:pt x="2044248" y="412286"/>
                    <a:pt x="2037433" y="419100"/>
                    <a:pt x="2029028" y="419100"/>
                  </a:cubicBezTo>
                  <a:lnTo>
                    <a:pt x="15220" y="419100"/>
                  </a:lnTo>
                  <a:cubicBezTo>
                    <a:pt x="6814" y="419100"/>
                    <a:pt x="0" y="412286"/>
                    <a:pt x="0" y="403880"/>
                  </a:cubicBezTo>
                  <a:lnTo>
                    <a:pt x="0" y="15220"/>
                  </a:lnTo>
                  <a:cubicBezTo>
                    <a:pt x="0" y="6814"/>
                    <a:pt x="6814" y="0"/>
                    <a:pt x="15220" y="0"/>
                  </a:cubicBezTo>
                  <a:close/>
                </a:path>
              </a:pathLst>
            </a:custGeom>
            <a:solidFill>
              <a:srgbClr val="4B164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2044247" cy="485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869336" y="590527"/>
            <a:ext cx="6918988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Datasets and tools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69101" y="2468603"/>
            <a:ext cx="2179290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2F2F2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84606" y="3025815"/>
            <a:ext cx="9428495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name : relationship_advice.csv 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1,885 rows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columns : “title”, “score”, “comms_num”, “created”, “body, ”timestamp”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69101" y="4771192"/>
            <a:ext cx="2179290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2F2F2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84606" y="5328405"/>
            <a:ext cx="9428495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just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name : reddit_breakup_dataset_cleaned.csv </a:t>
            </a:r>
          </a:p>
          <a:p>
            <a:pPr marL="431801" lvl="1" indent="-215900" algn="just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948 rows</a:t>
            </a:r>
          </a:p>
          <a:p>
            <a:pPr marL="431801" lvl="1" indent="-215900" algn="just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columns : “title”, “body”, “upvotes”, “comments_count”, “url”...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46927" y="7114343"/>
            <a:ext cx="2559787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2F2F2"/>
                </a:solidFill>
                <a:latin typeface="Poppins Bold"/>
                <a:ea typeface="Poppins Bold"/>
                <a:cs typeface="Poppins Bold"/>
                <a:sym typeface="Poppins Bold"/>
              </a:rPr>
              <a:t>Tools used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46927" y="7706543"/>
            <a:ext cx="8237282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Python, Pandas, NumPy, VADER, Scikit-learn, Matplotlib, Seaborn, WordCloud, Streamlit</a:t>
            </a:r>
          </a:p>
        </p:txBody>
      </p:sp>
      <p:sp>
        <p:nvSpPr>
          <p:cNvPr id="21" name="Freeform 21"/>
          <p:cNvSpPr/>
          <p:nvPr/>
        </p:nvSpPr>
        <p:spPr>
          <a:xfrm flipH="1">
            <a:off x="-85534" y="9258300"/>
            <a:ext cx="1114234" cy="1112209"/>
          </a:xfrm>
          <a:custGeom>
            <a:avLst/>
            <a:gdLst/>
            <a:ahLst/>
            <a:cxnLst/>
            <a:rect l="l" t="t" r="r" b="b"/>
            <a:pathLst>
              <a:path w="1114234" h="1112209">
                <a:moveTo>
                  <a:pt x="1114234" y="0"/>
                </a:moveTo>
                <a:lnTo>
                  <a:pt x="0" y="0"/>
                </a:lnTo>
                <a:lnTo>
                  <a:pt x="0" y="1112209"/>
                </a:lnTo>
                <a:lnTo>
                  <a:pt x="1114234" y="1112209"/>
                </a:lnTo>
                <a:lnTo>
                  <a:pt x="111423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flipH="1">
            <a:off x="-206701" y="9359977"/>
            <a:ext cx="1114234" cy="1112209"/>
          </a:xfrm>
          <a:custGeom>
            <a:avLst/>
            <a:gdLst/>
            <a:ahLst/>
            <a:cxnLst/>
            <a:rect l="l" t="t" r="r" b="b"/>
            <a:pathLst>
              <a:path w="1114234" h="1112209">
                <a:moveTo>
                  <a:pt x="1114235" y="0"/>
                </a:moveTo>
                <a:lnTo>
                  <a:pt x="0" y="0"/>
                </a:lnTo>
                <a:lnTo>
                  <a:pt x="0" y="1112209"/>
                </a:lnTo>
                <a:lnTo>
                  <a:pt x="1114235" y="1112209"/>
                </a:lnTo>
                <a:lnTo>
                  <a:pt x="111423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flipH="1">
            <a:off x="532166" y="9763566"/>
            <a:ext cx="1114234" cy="1112209"/>
          </a:xfrm>
          <a:custGeom>
            <a:avLst/>
            <a:gdLst/>
            <a:ahLst/>
            <a:cxnLst/>
            <a:rect l="l" t="t" r="r" b="b"/>
            <a:pathLst>
              <a:path w="1114234" h="1112209">
                <a:moveTo>
                  <a:pt x="1114234" y="0"/>
                </a:moveTo>
                <a:lnTo>
                  <a:pt x="0" y="0"/>
                </a:lnTo>
                <a:lnTo>
                  <a:pt x="0" y="1112208"/>
                </a:lnTo>
                <a:lnTo>
                  <a:pt x="1114234" y="1112208"/>
                </a:lnTo>
                <a:lnTo>
                  <a:pt x="111423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flipH="1">
            <a:off x="411000" y="9865243"/>
            <a:ext cx="1114234" cy="1112209"/>
          </a:xfrm>
          <a:custGeom>
            <a:avLst/>
            <a:gdLst/>
            <a:ahLst/>
            <a:cxnLst/>
            <a:rect l="l" t="t" r="r" b="b"/>
            <a:pathLst>
              <a:path w="1114234" h="1112209">
                <a:moveTo>
                  <a:pt x="1114234" y="0"/>
                </a:moveTo>
                <a:lnTo>
                  <a:pt x="0" y="0"/>
                </a:lnTo>
                <a:lnTo>
                  <a:pt x="0" y="1112208"/>
                </a:lnTo>
                <a:lnTo>
                  <a:pt x="1114234" y="1112208"/>
                </a:lnTo>
                <a:lnTo>
                  <a:pt x="111423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flipH="1">
            <a:off x="-532848" y="-738506"/>
            <a:ext cx="1622131" cy="1619182"/>
          </a:xfrm>
          <a:custGeom>
            <a:avLst/>
            <a:gdLst/>
            <a:ahLst/>
            <a:cxnLst/>
            <a:rect l="l" t="t" r="r" b="b"/>
            <a:pathLst>
              <a:path w="1622131" h="1619182">
                <a:moveTo>
                  <a:pt x="1622131" y="0"/>
                </a:moveTo>
                <a:lnTo>
                  <a:pt x="0" y="0"/>
                </a:lnTo>
                <a:lnTo>
                  <a:pt x="0" y="1619182"/>
                </a:lnTo>
                <a:lnTo>
                  <a:pt x="1622131" y="1619182"/>
                </a:lnTo>
                <a:lnTo>
                  <a:pt x="162213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flipH="1">
            <a:off x="-709245" y="-590482"/>
            <a:ext cx="1622131" cy="1619182"/>
          </a:xfrm>
          <a:custGeom>
            <a:avLst/>
            <a:gdLst/>
            <a:ahLst/>
            <a:cxnLst/>
            <a:rect l="l" t="t" r="r" b="b"/>
            <a:pathLst>
              <a:path w="1622131" h="1619182">
                <a:moveTo>
                  <a:pt x="1622131" y="0"/>
                </a:moveTo>
                <a:lnTo>
                  <a:pt x="0" y="0"/>
                </a:lnTo>
                <a:lnTo>
                  <a:pt x="0" y="1619182"/>
                </a:lnTo>
                <a:lnTo>
                  <a:pt x="1622131" y="1619182"/>
                </a:lnTo>
                <a:lnTo>
                  <a:pt x="162213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93783" y="2354473"/>
            <a:ext cx="8900435" cy="2444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0"/>
              </a:lnSpc>
              <a:spcBef>
                <a:spcPct val="0"/>
              </a:spcBef>
            </a:pPr>
            <a:r>
              <a:rPr lang="en-US" sz="14000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Checkpoint 2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5883849" y="7054486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3" y="5385164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97178" y="7546793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3" y="5385164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404151" y="-1635109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5"/>
                </a:lnTo>
                <a:lnTo>
                  <a:pt x="5394973" y="5385165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-2990822" y="-1142802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5"/>
                </a:lnTo>
                <a:lnTo>
                  <a:pt x="5394973" y="5385165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693783" y="4962525"/>
            <a:ext cx="8900435" cy="139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7F3380"/>
                </a:solidFill>
                <a:latin typeface="Sugo Display"/>
                <a:ea typeface="Sugo Display"/>
                <a:cs typeface="Sugo Display"/>
                <a:sym typeface="Sugo Display"/>
              </a:rPr>
              <a:t>Dataset Understanding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75473" y="3379690"/>
            <a:ext cx="7136754" cy="191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Combined : 2,833 rows, 6 columns after merging</a:t>
            </a:r>
          </a:p>
          <a:p>
            <a:pPr marL="431801" lvl="1" indent="-215900" algn="l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Key columns : “title”, “body”, “score”, “comms_num”, “timestamp”, “source”</a:t>
            </a:r>
          </a:p>
          <a:p>
            <a:pPr marL="431801" lvl="1" indent="-215900" algn="l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Engineered features : “body_length”, “publish_hour”, “high_engagement” (binary label)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75473" y="587441"/>
            <a:ext cx="12194421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Dataset description, features and issues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9112" y="6008590"/>
            <a:ext cx="2779802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7F3380"/>
                </a:solidFill>
                <a:latin typeface="Sugo Display"/>
                <a:ea typeface="Sugo Display"/>
                <a:cs typeface="Sugo Display"/>
                <a:sym typeface="Sugo Display"/>
              </a:rPr>
              <a:t>Problems encountered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9112" y="2510664"/>
            <a:ext cx="2779802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7F3380"/>
                </a:solidFill>
                <a:latin typeface="Sugo Display"/>
                <a:ea typeface="Sugo Display"/>
                <a:cs typeface="Sugo Display"/>
                <a:sym typeface="Sugo Display"/>
              </a:rPr>
              <a:t>Description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5473" y="6846790"/>
            <a:ext cx="8617933" cy="267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Schema mismatch : different column names across datasets (upvotes vs score, post_date vs timestamp)</a:t>
            </a:r>
          </a:p>
          <a:p>
            <a:pPr marL="431801" lvl="1" indent="-215900" algn="l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Mixed timestamp formats requiring format='mixed' parsing</a:t>
            </a:r>
          </a:p>
          <a:p>
            <a:pPr marL="431801" lvl="1" indent="-215900" algn="l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8 posts with empty bodies (0.3%)</a:t>
            </a:r>
          </a:p>
          <a:p>
            <a:pPr marL="431801" lvl="1" indent="-215900" algn="l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Heavily right-skewed score distribution (median = 1.0)</a:t>
            </a:r>
          </a:p>
          <a:p>
            <a:pPr marL="431801" lvl="1" indent="-215900" algn="l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Bot and moderation posts contaminating topic clustering corpus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93783" y="2354473"/>
            <a:ext cx="8900435" cy="2444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0"/>
              </a:lnSpc>
              <a:spcBef>
                <a:spcPct val="0"/>
              </a:spcBef>
            </a:pPr>
            <a:r>
              <a:rPr lang="en-US" sz="14000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Checkpoint 3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5883849" y="7054486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3" y="5385164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97178" y="7546793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3" y="5385164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404151" y="-1635109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5"/>
                </a:lnTo>
                <a:lnTo>
                  <a:pt x="5394973" y="5385165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-2990822" y="-1142802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5"/>
                </a:lnTo>
                <a:lnTo>
                  <a:pt x="5394973" y="5385165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693783" y="4962525"/>
            <a:ext cx="8900435" cy="281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7F3380"/>
                </a:solidFill>
                <a:latin typeface="Sugo Display"/>
                <a:ea typeface="Sugo Display"/>
                <a:cs typeface="Sugo Display"/>
                <a:sym typeface="Sugo Display"/>
              </a:rPr>
              <a:t>Data Cleaning &amp; Initial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49166" y="2060834"/>
            <a:ext cx="1344669" cy="1344669"/>
          </a:xfrm>
          <a:custGeom>
            <a:avLst/>
            <a:gdLst/>
            <a:ahLst/>
            <a:cxnLst/>
            <a:rect l="l" t="t" r="r" b="b"/>
            <a:pathLst>
              <a:path w="1344669" h="1344669">
                <a:moveTo>
                  <a:pt x="0" y="0"/>
                </a:moveTo>
                <a:lnTo>
                  <a:pt x="1344670" y="0"/>
                </a:lnTo>
                <a:lnTo>
                  <a:pt x="1344670" y="1344670"/>
                </a:lnTo>
                <a:lnTo>
                  <a:pt x="0" y="1344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48740" y="2340648"/>
            <a:ext cx="3885116" cy="677348"/>
            <a:chOff x="0" y="0"/>
            <a:chExt cx="5180155" cy="90313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5180155" cy="903130"/>
              <a:chOff x="0" y="0"/>
              <a:chExt cx="1551142" cy="27043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551142" cy="270433"/>
              </a:xfrm>
              <a:custGeom>
                <a:avLst/>
                <a:gdLst/>
                <a:ahLst/>
                <a:cxnLst/>
                <a:rect l="l" t="t" r="r" b="b"/>
                <a:pathLst>
                  <a:path w="1551142" h="270433">
                    <a:moveTo>
                      <a:pt x="38920" y="0"/>
                    </a:moveTo>
                    <a:lnTo>
                      <a:pt x="1512222" y="0"/>
                    </a:lnTo>
                    <a:cubicBezTo>
                      <a:pt x="1533717" y="0"/>
                      <a:pt x="1551142" y="17425"/>
                      <a:pt x="1551142" y="38920"/>
                    </a:cubicBezTo>
                    <a:lnTo>
                      <a:pt x="1551142" y="231512"/>
                    </a:lnTo>
                    <a:cubicBezTo>
                      <a:pt x="1551142" y="253008"/>
                      <a:pt x="1533717" y="270433"/>
                      <a:pt x="1512222" y="270433"/>
                    </a:cubicBezTo>
                    <a:lnTo>
                      <a:pt x="38920" y="270433"/>
                    </a:lnTo>
                    <a:cubicBezTo>
                      <a:pt x="17425" y="270433"/>
                      <a:pt x="0" y="253008"/>
                      <a:pt x="0" y="231512"/>
                    </a:cubicBezTo>
                    <a:lnTo>
                      <a:pt x="0" y="38920"/>
                    </a:lnTo>
                    <a:cubicBezTo>
                      <a:pt x="0" y="17425"/>
                      <a:pt x="17425" y="0"/>
                      <a:pt x="38920" y="0"/>
                    </a:cubicBezTo>
                    <a:close/>
                  </a:path>
                </a:pathLst>
              </a:custGeom>
              <a:solidFill>
                <a:srgbClr val="4B164C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66675"/>
                <a:ext cx="1551142" cy="3371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488637" y="61040"/>
              <a:ext cx="4202881" cy="69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2F2F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Cleaning steps 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165025" y="3894295"/>
            <a:ext cx="4898367" cy="782383"/>
            <a:chOff x="0" y="0"/>
            <a:chExt cx="1653905" cy="2641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53905" cy="264167"/>
            </a:xfrm>
            <a:custGeom>
              <a:avLst/>
              <a:gdLst/>
              <a:ahLst/>
              <a:cxnLst/>
              <a:rect l="l" t="t" r="r" b="b"/>
              <a:pathLst>
                <a:path w="1653905" h="264167">
                  <a:moveTo>
                    <a:pt x="30869" y="0"/>
                  </a:moveTo>
                  <a:lnTo>
                    <a:pt x="1623035" y="0"/>
                  </a:lnTo>
                  <a:cubicBezTo>
                    <a:pt x="1631222" y="0"/>
                    <a:pt x="1639074" y="3252"/>
                    <a:pt x="1644863" y="9041"/>
                  </a:cubicBezTo>
                  <a:cubicBezTo>
                    <a:pt x="1650652" y="14831"/>
                    <a:pt x="1653905" y="22682"/>
                    <a:pt x="1653905" y="30869"/>
                  </a:cubicBezTo>
                  <a:lnTo>
                    <a:pt x="1653905" y="233298"/>
                  </a:lnTo>
                  <a:cubicBezTo>
                    <a:pt x="1653905" y="241485"/>
                    <a:pt x="1650652" y="249336"/>
                    <a:pt x="1644863" y="255126"/>
                  </a:cubicBezTo>
                  <a:cubicBezTo>
                    <a:pt x="1639074" y="260915"/>
                    <a:pt x="1631222" y="264167"/>
                    <a:pt x="1623035" y="264167"/>
                  </a:cubicBezTo>
                  <a:lnTo>
                    <a:pt x="30869" y="264167"/>
                  </a:lnTo>
                  <a:cubicBezTo>
                    <a:pt x="22682" y="264167"/>
                    <a:pt x="14831" y="260915"/>
                    <a:pt x="9041" y="255126"/>
                  </a:cubicBezTo>
                  <a:cubicBezTo>
                    <a:pt x="3252" y="249336"/>
                    <a:pt x="0" y="241485"/>
                    <a:pt x="0" y="233298"/>
                  </a:cubicBezTo>
                  <a:lnTo>
                    <a:pt x="0" y="30869"/>
                  </a:lnTo>
                  <a:cubicBezTo>
                    <a:pt x="0" y="22682"/>
                    <a:pt x="3252" y="14831"/>
                    <a:pt x="9041" y="9041"/>
                  </a:cubicBezTo>
                  <a:cubicBezTo>
                    <a:pt x="14831" y="3252"/>
                    <a:pt x="22682" y="0"/>
                    <a:pt x="30869" y="0"/>
                  </a:cubicBezTo>
                  <a:close/>
                </a:path>
              </a:pathLst>
            </a:custGeom>
            <a:solidFill>
              <a:srgbClr val="4B164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653905" cy="330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791329" y="3798831"/>
            <a:ext cx="1344669" cy="1344669"/>
          </a:xfrm>
          <a:custGeom>
            <a:avLst/>
            <a:gdLst/>
            <a:ahLst/>
            <a:cxnLst/>
            <a:rect l="l" t="t" r="r" b="b"/>
            <a:pathLst>
              <a:path w="1344669" h="1344669">
                <a:moveTo>
                  <a:pt x="0" y="0"/>
                </a:moveTo>
                <a:lnTo>
                  <a:pt x="1344669" y="0"/>
                </a:lnTo>
                <a:lnTo>
                  <a:pt x="1344669" y="1344669"/>
                </a:lnTo>
                <a:lnTo>
                  <a:pt x="0" y="13446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348740" y="3624421"/>
            <a:ext cx="6876396" cy="320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20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standardized column names across both datasets</a:t>
            </a:r>
          </a:p>
          <a:p>
            <a:pPr marL="431801" lvl="1" indent="-215900" algn="l">
              <a:lnSpc>
                <a:spcPts val="320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added source flag column (breakups / relationship_advice)</a:t>
            </a:r>
          </a:p>
          <a:p>
            <a:pPr marL="431801" lvl="1" indent="-215900" algn="l">
              <a:lnSpc>
                <a:spcPts val="320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text cleaning (removed URLs, punctuation, lowercased everything...)</a:t>
            </a:r>
          </a:p>
          <a:p>
            <a:pPr marL="431801" lvl="1" indent="-215900" algn="l">
              <a:lnSpc>
                <a:spcPts val="320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dropped 8 empty body posts</a:t>
            </a:r>
          </a:p>
          <a:p>
            <a:pPr marL="431801" lvl="1" indent="-215900" algn="l">
              <a:lnSpc>
                <a:spcPts val="320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parsed timestamps with mixed format handling</a:t>
            </a:r>
          </a:p>
          <a:p>
            <a:pPr marL="431801" lvl="1" indent="-215900" algn="l">
              <a:lnSpc>
                <a:spcPts val="320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created binary engagement label via median split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48740" y="359192"/>
            <a:ext cx="9962507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Cleaning and feature engineering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00439" y="3971162"/>
            <a:ext cx="4227538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2F2F2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engineering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65025" y="5464424"/>
            <a:ext cx="6970974" cy="280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body_length : word count of cleaned body text</a:t>
            </a:r>
          </a:p>
          <a:p>
            <a:pPr marL="431801" lvl="1" indent="-215900" algn="l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publish_hour : extracted from timestamp (0–23)</a:t>
            </a:r>
          </a:p>
          <a:p>
            <a:pPr marL="431801" lvl="1" indent="-215900" algn="l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high_engagement : 1 if score &gt; median (1.0), else 0</a:t>
            </a:r>
          </a:p>
          <a:p>
            <a:pPr marL="431801" lvl="1" indent="-215900" algn="l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title_sentiment &amp; body_sentiment : VADER compound scores (-1 to +1)</a:t>
            </a:r>
          </a:p>
          <a:p>
            <a:pPr marL="431801" lvl="1" indent="-215900" algn="l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body_sentiment_labe l: positive / neutral / negative categories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15052" y="775364"/>
            <a:ext cx="9400885" cy="6269215"/>
          </a:xfrm>
          <a:custGeom>
            <a:avLst/>
            <a:gdLst/>
            <a:ahLst/>
            <a:cxnLst/>
            <a:rect l="l" t="t" r="r" b="b"/>
            <a:pathLst>
              <a:path w="9400885" h="6269215">
                <a:moveTo>
                  <a:pt x="0" y="0"/>
                </a:moveTo>
                <a:lnTo>
                  <a:pt x="9400885" y="0"/>
                </a:lnTo>
                <a:lnTo>
                  <a:pt x="9400885" y="6269215"/>
                </a:lnTo>
                <a:lnTo>
                  <a:pt x="0" y="62692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560786" y="2697122"/>
            <a:ext cx="6203127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Initial visualizations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560786" y="8204495"/>
            <a:ext cx="15166427" cy="1509243"/>
            <a:chOff x="0" y="0"/>
            <a:chExt cx="6055233" cy="60256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055233" cy="602569"/>
            </a:xfrm>
            <a:custGeom>
              <a:avLst/>
              <a:gdLst/>
              <a:ahLst/>
              <a:cxnLst/>
              <a:rect l="l" t="t" r="r" b="b"/>
              <a:pathLst>
                <a:path w="6055233" h="602569">
                  <a:moveTo>
                    <a:pt x="9970" y="0"/>
                  </a:moveTo>
                  <a:lnTo>
                    <a:pt x="6045263" y="0"/>
                  </a:lnTo>
                  <a:cubicBezTo>
                    <a:pt x="6050769" y="0"/>
                    <a:pt x="6055233" y="4464"/>
                    <a:pt x="6055233" y="9970"/>
                  </a:cubicBezTo>
                  <a:lnTo>
                    <a:pt x="6055233" y="592599"/>
                  </a:lnTo>
                  <a:cubicBezTo>
                    <a:pt x="6055233" y="595243"/>
                    <a:pt x="6054183" y="597779"/>
                    <a:pt x="6052313" y="599649"/>
                  </a:cubicBezTo>
                  <a:cubicBezTo>
                    <a:pt x="6050443" y="601518"/>
                    <a:pt x="6047907" y="602569"/>
                    <a:pt x="6045263" y="602569"/>
                  </a:cubicBezTo>
                  <a:lnTo>
                    <a:pt x="9970" y="602569"/>
                  </a:lnTo>
                  <a:cubicBezTo>
                    <a:pt x="7326" y="602569"/>
                    <a:pt x="4790" y="601518"/>
                    <a:pt x="2920" y="599649"/>
                  </a:cubicBezTo>
                  <a:cubicBezTo>
                    <a:pt x="1050" y="597779"/>
                    <a:pt x="0" y="595243"/>
                    <a:pt x="0" y="592599"/>
                  </a:cubicBezTo>
                  <a:lnTo>
                    <a:pt x="0" y="9970"/>
                  </a:lnTo>
                  <a:cubicBezTo>
                    <a:pt x="0" y="7326"/>
                    <a:pt x="1050" y="4790"/>
                    <a:pt x="2920" y="2920"/>
                  </a:cubicBezTo>
                  <a:cubicBezTo>
                    <a:pt x="4790" y="1050"/>
                    <a:pt x="7326" y="0"/>
                    <a:pt x="9970" y="0"/>
                  </a:cubicBezTo>
                  <a:close/>
                </a:path>
              </a:pathLst>
            </a:custGeom>
            <a:solidFill>
              <a:srgbClr val="BF5CC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6055233" cy="669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685937" y="8486041"/>
            <a:ext cx="12916126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Key point : score distribution is heavily right-skewed. 90% of posts score below 10. Unusual spike at hour 5 flagged for investigation.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98560" y="4625120"/>
            <a:ext cx="21085119" cy="206397"/>
            <a:chOff x="0" y="0"/>
            <a:chExt cx="3929153" cy="384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29153" cy="38462"/>
            </a:xfrm>
            <a:custGeom>
              <a:avLst/>
              <a:gdLst/>
              <a:ahLst/>
              <a:cxnLst/>
              <a:rect l="l" t="t" r="r" b="b"/>
              <a:pathLst>
                <a:path w="3929153" h="38462">
                  <a:moveTo>
                    <a:pt x="7171" y="0"/>
                  </a:moveTo>
                  <a:lnTo>
                    <a:pt x="3921982" y="0"/>
                  </a:lnTo>
                  <a:cubicBezTo>
                    <a:pt x="3923884" y="0"/>
                    <a:pt x="3925708" y="756"/>
                    <a:pt x="3927053" y="2100"/>
                  </a:cubicBezTo>
                  <a:cubicBezTo>
                    <a:pt x="3928398" y="3445"/>
                    <a:pt x="3929153" y="5269"/>
                    <a:pt x="3929153" y="7171"/>
                  </a:cubicBezTo>
                  <a:lnTo>
                    <a:pt x="3929153" y="31290"/>
                  </a:lnTo>
                  <a:cubicBezTo>
                    <a:pt x="3929153" y="33192"/>
                    <a:pt x="3928398" y="35016"/>
                    <a:pt x="3927053" y="36361"/>
                  </a:cubicBezTo>
                  <a:cubicBezTo>
                    <a:pt x="3925708" y="37706"/>
                    <a:pt x="3923884" y="38462"/>
                    <a:pt x="3921982" y="38462"/>
                  </a:cubicBezTo>
                  <a:lnTo>
                    <a:pt x="7171" y="38462"/>
                  </a:lnTo>
                  <a:cubicBezTo>
                    <a:pt x="5269" y="38462"/>
                    <a:pt x="3445" y="37706"/>
                    <a:pt x="2100" y="36361"/>
                  </a:cubicBezTo>
                  <a:cubicBezTo>
                    <a:pt x="756" y="35016"/>
                    <a:pt x="0" y="33192"/>
                    <a:pt x="0" y="31290"/>
                  </a:cubicBezTo>
                  <a:lnTo>
                    <a:pt x="0" y="7171"/>
                  </a:lnTo>
                  <a:cubicBezTo>
                    <a:pt x="0" y="5269"/>
                    <a:pt x="756" y="3445"/>
                    <a:pt x="2100" y="2100"/>
                  </a:cubicBezTo>
                  <a:cubicBezTo>
                    <a:pt x="3445" y="756"/>
                    <a:pt x="5269" y="0"/>
                    <a:pt x="7171" y="0"/>
                  </a:cubicBezTo>
                  <a:close/>
                </a:path>
              </a:pathLst>
            </a:custGeom>
            <a:solidFill>
              <a:srgbClr val="4B164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929153" cy="105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1002" y="6062503"/>
            <a:ext cx="3059283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Median score is 1.0 — most posts are invisible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08396"/>
            <a:ext cx="6918988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Initial findings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96635" y="6062503"/>
            <a:ext cx="3459664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Post length averages 226 words, some exceed 2,000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35577" y="6062503"/>
            <a:ext cx="3581405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Both subreddits split roughly 68% low / 32% high engagement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51650" y="6062503"/>
            <a:ext cx="3630548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Unusual posting spike at 5am — possible timezone or scraping artifact</a:t>
            </a:r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1615172" y="5102753"/>
            <a:ext cx="796495" cy="47625"/>
            <a:chOff x="0" y="0"/>
            <a:chExt cx="188729" cy="1128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8729" cy="11285"/>
            </a:xfrm>
            <a:custGeom>
              <a:avLst/>
              <a:gdLst/>
              <a:ahLst/>
              <a:cxnLst/>
              <a:rect l="l" t="t" r="r" b="b"/>
              <a:pathLst>
                <a:path w="188729" h="11285">
                  <a:moveTo>
                    <a:pt x="5642" y="0"/>
                  </a:moveTo>
                  <a:lnTo>
                    <a:pt x="183087" y="0"/>
                  </a:lnTo>
                  <a:cubicBezTo>
                    <a:pt x="184583" y="0"/>
                    <a:pt x="186019" y="594"/>
                    <a:pt x="187077" y="1653"/>
                  </a:cubicBezTo>
                  <a:cubicBezTo>
                    <a:pt x="188135" y="2711"/>
                    <a:pt x="188729" y="4146"/>
                    <a:pt x="188729" y="5642"/>
                  </a:cubicBezTo>
                  <a:lnTo>
                    <a:pt x="188729" y="5642"/>
                  </a:lnTo>
                  <a:cubicBezTo>
                    <a:pt x="188729" y="7139"/>
                    <a:pt x="188135" y="8574"/>
                    <a:pt x="187077" y="9632"/>
                  </a:cubicBezTo>
                  <a:cubicBezTo>
                    <a:pt x="186019" y="10690"/>
                    <a:pt x="184583" y="11285"/>
                    <a:pt x="183087" y="11285"/>
                  </a:cubicBezTo>
                  <a:lnTo>
                    <a:pt x="5642" y="11285"/>
                  </a:lnTo>
                  <a:cubicBezTo>
                    <a:pt x="4146" y="11285"/>
                    <a:pt x="2711" y="10690"/>
                    <a:pt x="1653" y="9632"/>
                  </a:cubicBezTo>
                  <a:cubicBezTo>
                    <a:pt x="594" y="8574"/>
                    <a:pt x="0" y="7139"/>
                    <a:pt x="0" y="5642"/>
                  </a:cubicBezTo>
                  <a:lnTo>
                    <a:pt x="0" y="5642"/>
                  </a:lnTo>
                  <a:cubicBezTo>
                    <a:pt x="0" y="4146"/>
                    <a:pt x="594" y="2711"/>
                    <a:pt x="1653" y="1653"/>
                  </a:cubicBezTo>
                  <a:cubicBezTo>
                    <a:pt x="2711" y="594"/>
                    <a:pt x="4146" y="0"/>
                    <a:pt x="5642" y="0"/>
                  </a:cubicBezTo>
                  <a:close/>
                </a:path>
              </a:pathLst>
            </a:custGeom>
            <a:solidFill>
              <a:srgbClr val="4B164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188729" cy="77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5400000">
            <a:off x="11151845" y="5102753"/>
            <a:ext cx="796495" cy="47625"/>
            <a:chOff x="0" y="0"/>
            <a:chExt cx="188729" cy="1128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8729" cy="11285"/>
            </a:xfrm>
            <a:custGeom>
              <a:avLst/>
              <a:gdLst/>
              <a:ahLst/>
              <a:cxnLst/>
              <a:rect l="l" t="t" r="r" b="b"/>
              <a:pathLst>
                <a:path w="188729" h="11285">
                  <a:moveTo>
                    <a:pt x="5642" y="0"/>
                  </a:moveTo>
                  <a:lnTo>
                    <a:pt x="183087" y="0"/>
                  </a:lnTo>
                  <a:cubicBezTo>
                    <a:pt x="184583" y="0"/>
                    <a:pt x="186019" y="594"/>
                    <a:pt x="187077" y="1653"/>
                  </a:cubicBezTo>
                  <a:cubicBezTo>
                    <a:pt x="188135" y="2711"/>
                    <a:pt x="188729" y="4146"/>
                    <a:pt x="188729" y="5642"/>
                  </a:cubicBezTo>
                  <a:lnTo>
                    <a:pt x="188729" y="5642"/>
                  </a:lnTo>
                  <a:cubicBezTo>
                    <a:pt x="188729" y="7139"/>
                    <a:pt x="188135" y="8574"/>
                    <a:pt x="187077" y="9632"/>
                  </a:cubicBezTo>
                  <a:cubicBezTo>
                    <a:pt x="186019" y="10690"/>
                    <a:pt x="184583" y="11285"/>
                    <a:pt x="183087" y="11285"/>
                  </a:cubicBezTo>
                  <a:lnTo>
                    <a:pt x="5642" y="11285"/>
                  </a:lnTo>
                  <a:cubicBezTo>
                    <a:pt x="4146" y="11285"/>
                    <a:pt x="2711" y="10690"/>
                    <a:pt x="1653" y="9632"/>
                  </a:cubicBezTo>
                  <a:cubicBezTo>
                    <a:pt x="594" y="8574"/>
                    <a:pt x="0" y="7139"/>
                    <a:pt x="0" y="5642"/>
                  </a:cubicBezTo>
                  <a:lnTo>
                    <a:pt x="0" y="5642"/>
                  </a:lnTo>
                  <a:cubicBezTo>
                    <a:pt x="0" y="4146"/>
                    <a:pt x="594" y="2711"/>
                    <a:pt x="1653" y="1653"/>
                  </a:cubicBezTo>
                  <a:cubicBezTo>
                    <a:pt x="2711" y="594"/>
                    <a:pt x="4146" y="0"/>
                    <a:pt x="5642" y="0"/>
                  </a:cubicBezTo>
                  <a:close/>
                </a:path>
              </a:pathLst>
            </a:custGeom>
            <a:solidFill>
              <a:srgbClr val="4B164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188729" cy="77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5400000">
            <a:off x="6352032" y="5102753"/>
            <a:ext cx="796495" cy="47625"/>
            <a:chOff x="0" y="0"/>
            <a:chExt cx="188729" cy="1128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8729" cy="11285"/>
            </a:xfrm>
            <a:custGeom>
              <a:avLst/>
              <a:gdLst/>
              <a:ahLst/>
              <a:cxnLst/>
              <a:rect l="l" t="t" r="r" b="b"/>
              <a:pathLst>
                <a:path w="188729" h="11285">
                  <a:moveTo>
                    <a:pt x="5642" y="0"/>
                  </a:moveTo>
                  <a:lnTo>
                    <a:pt x="183087" y="0"/>
                  </a:lnTo>
                  <a:cubicBezTo>
                    <a:pt x="184583" y="0"/>
                    <a:pt x="186019" y="594"/>
                    <a:pt x="187077" y="1653"/>
                  </a:cubicBezTo>
                  <a:cubicBezTo>
                    <a:pt x="188135" y="2711"/>
                    <a:pt x="188729" y="4146"/>
                    <a:pt x="188729" y="5642"/>
                  </a:cubicBezTo>
                  <a:lnTo>
                    <a:pt x="188729" y="5642"/>
                  </a:lnTo>
                  <a:cubicBezTo>
                    <a:pt x="188729" y="7139"/>
                    <a:pt x="188135" y="8574"/>
                    <a:pt x="187077" y="9632"/>
                  </a:cubicBezTo>
                  <a:cubicBezTo>
                    <a:pt x="186019" y="10690"/>
                    <a:pt x="184583" y="11285"/>
                    <a:pt x="183087" y="11285"/>
                  </a:cubicBezTo>
                  <a:lnTo>
                    <a:pt x="5642" y="11285"/>
                  </a:lnTo>
                  <a:cubicBezTo>
                    <a:pt x="4146" y="11285"/>
                    <a:pt x="2711" y="10690"/>
                    <a:pt x="1653" y="9632"/>
                  </a:cubicBezTo>
                  <a:cubicBezTo>
                    <a:pt x="594" y="8574"/>
                    <a:pt x="0" y="7139"/>
                    <a:pt x="0" y="5642"/>
                  </a:cubicBezTo>
                  <a:lnTo>
                    <a:pt x="0" y="5642"/>
                  </a:lnTo>
                  <a:cubicBezTo>
                    <a:pt x="0" y="4146"/>
                    <a:pt x="594" y="2711"/>
                    <a:pt x="1653" y="1653"/>
                  </a:cubicBezTo>
                  <a:cubicBezTo>
                    <a:pt x="2711" y="594"/>
                    <a:pt x="4146" y="0"/>
                    <a:pt x="5642" y="0"/>
                  </a:cubicBezTo>
                  <a:close/>
                </a:path>
              </a:pathLst>
            </a:custGeom>
            <a:solidFill>
              <a:srgbClr val="4B164C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88729" cy="77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5400000">
            <a:off x="15692488" y="5102753"/>
            <a:ext cx="796495" cy="47625"/>
            <a:chOff x="0" y="0"/>
            <a:chExt cx="188729" cy="1128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88729" cy="11285"/>
            </a:xfrm>
            <a:custGeom>
              <a:avLst/>
              <a:gdLst/>
              <a:ahLst/>
              <a:cxnLst/>
              <a:rect l="l" t="t" r="r" b="b"/>
              <a:pathLst>
                <a:path w="188729" h="11285">
                  <a:moveTo>
                    <a:pt x="5642" y="0"/>
                  </a:moveTo>
                  <a:lnTo>
                    <a:pt x="183087" y="0"/>
                  </a:lnTo>
                  <a:cubicBezTo>
                    <a:pt x="184583" y="0"/>
                    <a:pt x="186019" y="594"/>
                    <a:pt x="187077" y="1653"/>
                  </a:cubicBezTo>
                  <a:cubicBezTo>
                    <a:pt x="188135" y="2711"/>
                    <a:pt x="188729" y="4146"/>
                    <a:pt x="188729" y="5642"/>
                  </a:cubicBezTo>
                  <a:lnTo>
                    <a:pt x="188729" y="5642"/>
                  </a:lnTo>
                  <a:cubicBezTo>
                    <a:pt x="188729" y="7139"/>
                    <a:pt x="188135" y="8574"/>
                    <a:pt x="187077" y="9632"/>
                  </a:cubicBezTo>
                  <a:cubicBezTo>
                    <a:pt x="186019" y="10690"/>
                    <a:pt x="184583" y="11285"/>
                    <a:pt x="183087" y="11285"/>
                  </a:cubicBezTo>
                  <a:lnTo>
                    <a:pt x="5642" y="11285"/>
                  </a:lnTo>
                  <a:cubicBezTo>
                    <a:pt x="4146" y="11285"/>
                    <a:pt x="2711" y="10690"/>
                    <a:pt x="1653" y="9632"/>
                  </a:cubicBezTo>
                  <a:cubicBezTo>
                    <a:pt x="594" y="8574"/>
                    <a:pt x="0" y="7139"/>
                    <a:pt x="0" y="5642"/>
                  </a:cubicBezTo>
                  <a:lnTo>
                    <a:pt x="0" y="5642"/>
                  </a:lnTo>
                  <a:cubicBezTo>
                    <a:pt x="0" y="4146"/>
                    <a:pt x="594" y="2711"/>
                    <a:pt x="1653" y="1653"/>
                  </a:cubicBezTo>
                  <a:cubicBezTo>
                    <a:pt x="2711" y="594"/>
                    <a:pt x="4146" y="0"/>
                    <a:pt x="5642" y="0"/>
                  </a:cubicBezTo>
                  <a:close/>
                </a:path>
              </a:pathLst>
            </a:custGeom>
            <a:solidFill>
              <a:srgbClr val="4B164C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188729" cy="77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800346" y="3075321"/>
            <a:ext cx="426147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7F3380"/>
                </a:solidFill>
                <a:latin typeface="Sugo Display"/>
                <a:ea typeface="Sugo Display"/>
                <a:cs typeface="Sugo Display"/>
                <a:sym typeface="Sugo Display"/>
              </a:rPr>
              <a:t>1.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13394" y="3075321"/>
            <a:ext cx="547888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7F3380"/>
                </a:solidFill>
                <a:latin typeface="Sugo Display"/>
                <a:ea typeface="Sugo Display"/>
                <a:cs typeface="Sugo Display"/>
                <a:sym typeface="Sugo Display"/>
              </a:rPr>
              <a:t>2.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99961" y="3075321"/>
            <a:ext cx="547888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7F3380"/>
                </a:solidFill>
                <a:latin typeface="Sugo Display"/>
                <a:ea typeface="Sugo Display"/>
                <a:cs typeface="Sugo Display"/>
                <a:sym typeface="Sugo Display"/>
              </a:rPr>
              <a:t>3.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840605" y="3075321"/>
            <a:ext cx="547888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7F3380"/>
                </a:solidFill>
                <a:latin typeface="Sugo Display"/>
                <a:ea typeface="Sugo Display"/>
                <a:cs typeface="Sugo Display"/>
                <a:sym typeface="Sugo Display"/>
              </a:rPr>
              <a:t>4.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93783" y="2354473"/>
            <a:ext cx="8900435" cy="2444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0"/>
              </a:lnSpc>
              <a:spcBef>
                <a:spcPct val="0"/>
              </a:spcBef>
            </a:pPr>
            <a:r>
              <a:rPr lang="en-US" sz="14000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Checkpoint 4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5883849" y="7054486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3" y="5385164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97178" y="7546793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3" y="5385164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404151" y="-1635109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5"/>
                </a:lnTo>
                <a:lnTo>
                  <a:pt x="5394973" y="5385165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-2990822" y="-1142802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5"/>
                </a:lnTo>
                <a:lnTo>
                  <a:pt x="5394973" y="5385165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693783" y="4962525"/>
            <a:ext cx="8900435" cy="281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>
                <a:solidFill>
                  <a:srgbClr val="7F3380"/>
                </a:solidFill>
                <a:latin typeface="Sugo Display"/>
                <a:ea typeface="Sugo Display"/>
                <a:cs typeface="Sugo Display"/>
                <a:sym typeface="Sugo Display"/>
              </a:rPr>
              <a:t>Final Analysis and Machine Learning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0786" y="8204495"/>
            <a:ext cx="15166427" cy="1509243"/>
            <a:chOff x="0" y="0"/>
            <a:chExt cx="6055233" cy="6025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55233" cy="602569"/>
            </a:xfrm>
            <a:custGeom>
              <a:avLst/>
              <a:gdLst/>
              <a:ahLst/>
              <a:cxnLst/>
              <a:rect l="l" t="t" r="r" b="b"/>
              <a:pathLst>
                <a:path w="6055233" h="602569">
                  <a:moveTo>
                    <a:pt x="9970" y="0"/>
                  </a:moveTo>
                  <a:lnTo>
                    <a:pt x="6045263" y="0"/>
                  </a:lnTo>
                  <a:cubicBezTo>
                    <a:pt x="6050769" y="0"/>
                    <a:pt x="6055233" y="4464"/>
                    <a:pt x="6055233" y="9970"/>
                  </a:cubicBezTo>
                  <a:lnTo>
                    <a:pt x="6055233" y="592599"/>
                  </a:lnTo>
                  <a:cubicBezTo>
                    <a:pt x="6055233" y="595243"/>
                    <a:pt x="6054183" y="597779"/>
                    <a:pt x="6052313" y="599649"/>
                  </a:cubicBezTo>
                  <a:cubicBezTo>
                    <a:pt x="6050443" y="601518"/>
                    <a:pt x="6047907" y="602569"/>
                    <a:pt x="6045263" y="602569"/>
                  </a:cubicBezTo>
                  <a:lnTo>
                    <a:pt x="9970" y="602569"/>
                  </a:lnTo>
                  <a:cubicBezTo>
                    <a:pt x="7326" y="602569"/>
                    <a:pt x="4790" y="601518"/>
                    <a:pt x="2920" y="599649"/>
                  </a:cubicBezTo>
                  <a:cubicBezTo>
                    <a:pt x="1050" y="597779"/>
                    <a:pt x="0" y="595243"/>
                    <a:pt x="0" y="592599"/>
                  </a:cubicBezTo>
                  <a:lnTo>
                    <a:pt x="0" y="9970"/>
                  </a:lnTo>
                  <a:cubicBezTo>
                    <a:pt x="0" y="7326"/>
                    <a:pt x="1050" y="4790"/>
                    <a:pt x="2920" y="2920"/>
                  </a:cubicBezTo>
                  <a:cubicBezTo>
                    <a:pt x="4790" y="1050"/>
                    <a:pt x="7326" y="0"/>
                    <a:pt x="9970" y="0"/>
                  </a:cubicBezTo>
                  <a:close/>
                </a:path>
              </a:pathLst>
            </a:custGeom>
            <a:solidFill>
              <a:srgbClr val="BF5CC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6055233" cy="669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2246011"/>
            <a:ext cx="11696292" cy="3896327"/>
          </a:xfrm>
          <a:custGeom>
            <a:avLst/>
            <a:gdLst/>
            <a:ahLst/>
            <a:cxnLst/>
            <a:rect l="l" t="t" r="r" b="b"/>
            <a:pathLst>
              <a:path w="11696292" h="3896327">
                <a:moveTo>
                  <a:pt x="0" y="0"/>
                </a:moveTo>
                <a:lnTo>
                  <a:pt x="11696292" y="0"/>
                </a:lnTo>
                <a:lnTo>
                  <a:pt x="11696292" y="3896328"/>
                </a:lnTo>
                <a:lnTo>
                  <a:pt x="0" y="3896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028700" y="244624"/>
            <a:ext cx="9486900" cy="1212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 dirty="0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Sentiment analysis results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85937" y="8486041"/>
            <a:ext cx="12916126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Key finding : even breakup posts trend positive; people frame experiences with hope, not just pain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73815" y="4885026"/>
            <a:ext cx="4456496" cy="200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Stats: </a:t>
            </a:r>
          </a:p>
          <a:p>
            <a:pPr marL="431801" lvl="1" indent="-215900" algn="l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1,613 positive (57%)</a:t>
            </a:r>
          </a:p>
          <a:p>
            <a:pPr marL="431801" lvl="1" indent="-215900" algn="l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1,087 negative (38%) </a:t>
            </a:r>
          </a:p>
          <a:p>
            <a:pPr marL="431801" lvl="1" indent="-215900" algn="l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125 neutral (5%)</a:t>
            </a:r>
          </a:p>
          <a:p>
            <a:pPr marL="431801" lvl="1" indent="-215900" algn="l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Average body sentiment : +0.17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0786" y="8204495"/>
            <a:ext cx="15166427" cy="1509243"/>
            <a:chOff x="0" y="0"/>
            <a:chExt cx="6055233" cy="6025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55233" cy="602569"/>
            </a:xfrm>
            <a:custGeom>
              <a:avLst/>
              <a:gdLst/>
              <a:ahLst/>
              <a:cxnLst/>
              <a:rect l="l" t="t" r="r" b="b"/>
              <a:pathLst>
                <a:path w="6055233" h="602569">
                  <a:moveTo>
                    <a:pt x="9970" y="0"/>
                  </a:moveTo>
                  <a:lnTo>
                    <a:pt x="6045263" y="0"/>
                  </a:lnTo>
                  <a:cubicBezTo>
                    <a:pt x="6050769" y="0"/>
                    <a:pt x="6055233" y="4464"/>
                    <a:pt x="6055233" y="9970"/>
                  </a:cubicBezTo>
                  <a:lnTo>
                    <a:pt x="6055233" y="592599"/>
                  </a:lnTo>
                  <a:cubicBezTo>
                    <a:pt x="6055233" y="595243"/>
                    <a:pt x="6054183" y="597779"/>
                    <a:pt x="6052313" y="599649"/>
                  </a:cubicBezTo>
                  <a:cubicBezTo>
                    <a:pt x="6050443" y="601518"/>
                    <a:pt x="6047907" y="602569"/>
                    <a:pt x="6045263" y="602569"/>
                  </a:cubicBezTo>
                  <a:lnTo>
                    <a:pt x="9970" y="602569"/>
                  </a:lnTo>
                  <a:cubicBezTo>
                    <a:pt x="7326" y="602569"/>
                    <a:pt x="4790" y="601518"/>
                    <a:pt x="2920" y="599649"/>
                  </a:cubicBezTo>
                  <a:cubicBezTo>
                    <a:pt x="1050" y="597779"/>
                    <a:pt x="0" y="595243"/>
                    <a:pt x="0" y="592599"/>
                  </a:cubicBezTo>
                  <a:lnTo>
                    <a:pt x="0" y="9970"/>
                  </a:lnTo>
                  <a:cubicBezTo>
                    <a:pt x="0" y="7326"/>
                    <a:pt x="1050" y="4790"/>
                    <a:pt x="2920" y="2920"/>
                  </a:cubicBezTo>
                  <a:cubicBezTo>
                    <a:pt x="4790" y="1050"/>
                    <a:pt x="7326" y="0"/>
                    <a:pt x="9970" y="0"/>
                  </a:cubicBezTo>
                  <a:close/>
                </a:path>
              </a:pathLst>
            </a:custGeom>
            <a:solidFill>
              <a:srgbClr val="BF5CC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6055233" cy="669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787016" y="2200079"/>
            <a:ext cx="12713968" cy="4537297"/>
          </a:xfrm>
          <a:custGeom>
            <a:avLst/>
            <a:gdLst/>
            <a:ahLst/>
            <a:cxnLst/>
            <a:rect l="l" t="t" r="r" b="b"/>
            <a:pathLst>
              <a:path w="12713968" h="4537297">
                <a:moveTo>
                  <a:pt x="0" y="0"/>
                </a:moveTo>
                <a:lnTo>
                  <a:pt x="12713968" y="0"/>
                </a:lnTo>
                <a:lnTo>
                  <a:pt x="12713968" y="4537297"/>
                </a:lnTo>
                <a:lnTo>
                  <a:pt x="0" y="4537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065377" y="346075"/>
            <a:ext cx="5183023" cy="1212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 dirty="0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Word cloud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85937" y="8486041"/>
            <a:ext cx="12916126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Key finding : positive and negative posts share almost identical vocabulary — feel, time, relationship, said. Framing shifts but language barely changes.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0786" y="8204495"/>
            <a:ext cx="15166427" cy="1509243"/>
            <a:chOff x="0" y="0"/>
            <a:chExt cx="6055233" cy="6025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55233" cy="602569"/>
            </a:xfrm>
            <a:custGeom>
              <a:avLst/>
              <a:gdLst/>
              <a:ahLst/>
              <a:cxnLst/>
              <a:rect l="l" t="t" r="r" b="b"/>
              <a:pathLst>
                <a:path w="6055233" h="602569">
                  <a:moveTo>
                    <a:pt x="9970" y="0"/>
                  </a:moveTo>
                  <a:lnTo>
                    <a:pt x="6045263" y="0"/>
                  </a:lnTo>
                  <a:cubicBezTo>
                    <a:pt x="6050769" y="0"/>
                    <a:pt x="6055233" y="4464"/>
                    <a:pt x="6055233" y="9970"/>
                  </a:cubicBezTo>
                  <a:lnTo>
                    <a:pt x="6055233" y="592599"/>
                  </a:lnTo>
                  <a:cubicBezTo>
                    <a:pt x="6055233" y="595243"/>
                    <a:pt x="6054183" y="597779"/>
                    <a:pt x="6052313" y="599649"/>
                  </a:cubicBezTo>
                  <a:cubicBezTo>
                    <a:pt x="6050443" y="601518"/>
                    <a:pt x="6047907" y="602569"/>
                    <a:pt x="6045263" y="602569"/>
                  </a:cubicBezTo>
                  <a:lnTo>
                    <a:pt x="9970" y="602569"/>
                  </a:lnTo>
                  <a:cubicBezTo>
                    <a:pt x="7326" y="602569"/>
                    <a:pt x="4790" y="601518"/>
                    <a:pt x="2920" y="599649"/>
                  </a:cubicBezTo>
                  <a:cubicBezTo>
                    <a:pt x="1050" y="597779"/>
                    <a:pt x="0" y="595243"/>
                    <a:pt x="0" y="592599"/>
                  </a:cubicBezTo>
                  <a:lnTo>
                    <a:pt x="0" y="9970"/>
                  </a:lnTo>
                  <a:cubicBezTo>
                    <a:pt x="0" y="7326"/>
                    <a:pt x="1050" y="4790"/>
                    <a:pt x="2920" y="2920"/>
                  </a:cubicBezTo>
                  <a:cubicBezTo>
                    <a:pt x="4790" y="1050"/>
                    <a:pt x="7326" y="0"/>
                    <a:pt x="9970" y="0"/>
                  </a:cubicBezTo>
                  <a:close/>
                </a:path>
              </a:pathLst>
            </a:custGeom>
            <a:solidFill>
              <a:srgbClr val="BF5CC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6055233" cy="669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557474" y="1028700"/>
            <a:ext cx="8701826" cy="6526370"/>
          </a:xfrm>
          <a:custGeom>
            <a:avLst/>
            <a:gdLst/>
            <a:ahLst/>
            <a:cxnLst/>
            <a:rect l="l" t="t" r="r" b="b"/>
            <a:pathLst>
              <a:path w="8701826" h="6526370">
                <a:moveTo>
                  <a:pt x="0" y="0"/>
                </a:moveTo>
                <a:lnTo>
                  <a:pt x="8701826" y="0"/>
                </a:lnTo>
                <a:lnTo>
                  <a:pt x="8701826" y="6526370"/>
                </a:lnTo>
                <a:lnTo>
                  <a:pt x="0" y="65263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1065377" y="346075"/>
            <a:ext cx="6859423" cy="1212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 dirty="0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Correlation heatmap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85937" y="8705116"/>
            <a:ext cx="12916126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Key finding :  sentiment is essentially irrelevant to engagement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69490" y="2780565"/>
            <a:ext cx="4842009" cy="360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numbers:</a:t>
            </a:r>
          </a:p>
          <a:p>
            <a:pPr marL="431801" lvl="1" indent="-215900" algn="l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score vs comms_num: 0.65 (strong)</a:t>
            </a:r>
          </a:p>
          <a:p>
            <a:pPr marL="431801" lvl="1" indent="-215900" algn="l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body_sentiment vs high_engagement: -0.02 (near zero)</a:t>
            </a:r>
          </a:p>
          <a:p>
            <a:pPr marL="431801" lvl="1" indent="-215900" algn="l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comms_num vs high_engagement: 0.27 (strongest predictor)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5377" y="2517775"/>
            <a:ext cx="13084230" cy="4358684"/>
          </a:xfrm>
          <a:custGeom>
            <a:avLst/>
            <a:gdLst/>
            <a:ahLst/>
            <a:cxnLst/>
            <a:rect l="l" t="t" r="r" b="b"/>
            <a:pathLst>
              <a:path w="13084230" h="4358684">
                <a:moveTo>
                  <a:pt x="0" y="0"/>
                </a:moveTo>
                <a:lnTo>
                  <a:pt x="13084230" y="0"/>
                </a:lnTo>
                <a:lnTo>
                  <a:pt x="13084230" y="4358684"/>
                </a:lnTo>
                <a:lnTo>
                  <a:pt x="0" y="4358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065377" y="346075"/>
            <a:ext cx="3084076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PMF &amp; CDF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560786" y="8204495"/>
            <a:ext cx="15166427" cy="1509243"/>
            <a:chOff x="0" y="0"/>
            <a:chExt cx="20221903" cy="2012324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20221903" cy="2012324"/>
              <a:chOff x="0" y="0"/>
              <a:chExt cx="6055233" cy="60256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055233" cy="602569"/>
              </a:xfrm>
              <a:custGeom>
                <a:avLst/>
                <a:gdLst/>
                <a:ahLst/>
                <a:cxnLst/>
                <a:rect l="l" t="t" r="r" b="b"/>
                <a:pathLst>
                  <a:path w="6055233" h="602569">
                    <a:moveTo>
                      <a:pt x="9970" y="0"/>
                    </a:moveTo>
                    <a:lnTo>
                      <a:pt x="6045263" y="0"/>
                    </a:lnTo>
                    <a:cubicBezTo>
                      <a:pt x="6050769" y="0"/>
                      <a:pt x="6055233" y="4464"/>
                      <a:pt x="6055233" y="9970"/>
                    </a:cubicBezTo>
                    <a:lnTo>
                      <a:pt x="6055233" y="592599"/>
                    </a:lnTo>
                    <a:cubicBezTo>
                      <a:pt x="6055233" y="595243"/>
                      <a:pt x="6054183" y="597779"/>
                      <a:pt x="6052313" y="599649"/>
                    </a:cubicBezTo>
                    <a:cubicBezTo>
                      <a:pt x="6050443" y="601518"/>
                      <a:pt x="6047907" y="602569"/>
                      <a:pt x="6045263" y="602569"/>
                    </a:cubicBezTo>
                    <a:lnTo>
                      <a:pt x="9970" y="602569"/>
                    </a:lnTo>
                    <a:cubicBezTo>
                      <a:pt x="7326" y="602569"/>
                      <a:pt x="4790" y="601518"/>
                      <a:pt x="2920" y="599649"/>
                    </a:cubicBezTo>
                    <a:cubicBezTo>
                      <a:pt x="1050" y="597779"/>
                      <a:pt x="0" y="595243"/>
                      <a:pt x="0" y="592599"/>
                    </a:cubicBezTo>
                    <a:lnTo>
                      <a:pt x="0" y="9970"/>
                    </a:lnTo>
                    <a:cubicBezTo>
                      <a:pt x="0" y="7326"/>
                      <a:pt x="1050" y="4790"/>
                      <a:pt x="2920" y="2920"/>
                    </a:cubicBezTo>
                    <a:cubicBezTo>
                      <a:pt x="4790" y="1050"/>
                      <a:pt x="7326" y="0"/>
                      <a:pt x="9970" y="0"/>
                    </a:cubicBezTo>
                    <a:close/>
                  </a:path>
                </a:pathLst>
              </a:custGeom>
              <a:solidFill>
                <a:srgbClr val="BF5CC0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66675"/>
                <a:ext cx="6055233" cy="6692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227738" y="397620"/>
              <a:ext cx="17766427" cy="1150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i="1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Key finding :  90% of all posts score below 10. Engagement is extremely concentrated — justifies binary label approach instead of predicting exact scores.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279354"/>
            <a:ext cx="11922195" cy="4254733"/>
          </a:xfrm>
          <a:custGeom>
            <a:avLst/>
            <a:gdLst/>
            <a:ahLst/>
            <a:cxnLst/>
            <a:rect l="l" t="t" r="r" b="b"/>
            <a:pathLst>
              <a:path w="11922195" h="4254733">
                <a:moveTo>
                  <a:pt x="0" y="0"/>
                </a:moveTo>
                <a:lnTo>
                  <a:pt x="11922195" y="0"/>
                </a:lnTo>
                <a:lnTo>
                  <a:pt x="11922195" y="4254733"/>
                </a:lnTo>
                <a:lnTo>
                  <a:pt x="0" y="42547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065377" y="346075"/>
            <a:ext cx="7469023" cy="1212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 dirty="0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Topic clustering (LDA)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5377" y="7149741"/>
            <a:ext cx="6262318" cy="240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 topics identified from 2,000 filtered posts:</a:t>
            </a:r>
          </a:p>
          <a:p>
            <a:pPr marL="431801" lvl="1" indent="-215900" algn="l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Heartbreak &amp; Recovery — 30.4%</a:t>
            </a:r>
          </a:p>
          <a:p>
            <a:pPr marL="431801" lvl="1" indent="-215900" algn="l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Long-term Strain — 21.3%</a:t>
            </a:r>
          </a:p>
          <a:p>
            <a:pPr marL="431801" lvl="1" indent="-215900" algn="l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Dating &amp; Early Relationships — 17.9%</a:t>
            </a:r>
          </a:p>
          <a:p>
            <a:pPr marL="431801" lvl="1" indent="-215900" algn="l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Intimacy &amp; Dynamics — 16.2%</a:t>
            </a:r>
          </a:p>
          <a:p>
            <a:pPr marL="431801" lvl="1" indent="-215900" algn="l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Social &amp; Family Conflict — 14.4%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78508" y="846640"/>
            <a:ext cx="10054130" cy="5027065"/>
          </a:xfrm>
          <a:custGeom>
            <a:avLst/>
            <a:gdLst/>
            <a:ahLst/>
            <a:cxnLst/>
            <a:rect l="l" t="t" r="r" b="b"/>
            <a:pathLst>
              <a:path w="10054130" h="5027065">
                <a:moveTo>
                  <a:pt x="0" y="0"/>
                </a:moveTo>
                <a:lnTo>
                  <a:pt x="10054130" y="0"/>
                </a:lnTo>
                <a:lnTo>
                  <a:pt x="10054130" y="5027065"/>
                </a:lnTo>
                <a:lnTo>
                  <a:pt x="0" y="50270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755648" y="2781748"/>
          <a:ext cx="6057212" cy="3626738"/>
        </p:xfrm>
        <a:graphic>
          <a:graphicData uri="http://schemas.openxmlformats.org/drawingml/2006/table">
            <a:tbl>
              <a:tblPr/>
              <a:tblGrid>
                <a:gridCol w="1514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4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43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43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04536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5C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5C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F1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5C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5C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4536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88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0.72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C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0.34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C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0.23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C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313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88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0.70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C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0.29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C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0.19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C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4536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88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0.71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C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0.35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C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0.24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C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065377" y="346075"/>
            <a:ext cx="4630103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Baseline models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78508" y="6487192"/>
            <a:ext cx="10054130" cy="803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80/20 train/test split, 5 features : body_length, publish_hour, title_sentiment, body_sentiment, comms_num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713186" y="8356895"/>
            <a:ext cx="15166427" cy="1509243"/>
            <a:chOff x="0" y="0"/>
            <a:chExt cx="20221903" cy="2012324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0221903" cy="2012324"/>
              <a:chOff x="0" y="0"/>
              <a:chExt cx="6055233" cy="60256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6055233" cy="602569"/>
              </a:xfrm>
              <a:custGeom>
                <a:avLst/>
                <a:gdLst/>
                <a:ahLst/>
                <a:cxnLst/>
                <a:rect l="l" t="t" r="r" b="b"/>
                <a:pathLst>
                  <a:path w="6055233" h="602569">
                    <a:moveTo>
                      <a:pt x="9970" y="0"/>
                    </a:moveTo>
                    <a:lnTo>
                      <a:pt x="6045263" y="0"/>
                    </a:lnTo>
                    <a:cubicBezTo>
                      <a:pt x="6050769" y="0"/>
                      <a:pt x="6055233" y="4464"/>
                      <a:pt x="6055233" y="9970"/>
                    </a:cubicBezTo>
                    <a:lnTo>
                      <a:pt x="6055233" y="592599"/>
                    </a:lnTo>
                    <a:cubicBezTo>
                      <a:pt x="6055233" y="595243"/>
                      <a:pt x="6054183" y="597779"/>
                      <a:pt x="6052313" y="599649"/>
                    </a:cubicBezTo>
                    <a:cubicBezTo>
                      <a:pt x="6050443" y="601518"/>
                      <a:pt x="6047907" y="602569"/>
                      <a:pt x="6045263" y="602569"/>
                    </a:cubicBezTo>
                    <a:lnTo>
                      <a:pt x="9970" y="602569"/>
                    </a:lnTo>
                    <a:cubicBezTo>
                      <a:pt x="7326" y="602569"/>
                      <a:pt x="4790" y="601518"/>
                      <a:pt x="2920" y="599649"/>
                    </a:cubicBezTo>
                    <a:cubicBezTo>
                      <a:pt x="1050" y="597779"/>
                      <a:pt x="0" y="595243"/>
                      <a:pt x="0" y="592599"/>
                    </a:cubicBezTo>
                    <a:lnTo>
                      <a:pt x="0" y="9970"/>
                    </a:lnTo>
                    <a:cubicBezTo>
                      <a:pt x="0" y="7326"/>
                      <a:pt x="1050" y="4790"/>
                      <a:pt x="2920" y="2920"/>
                    </a:cubicBezTo>
                    <a:cubicBezTo>
                      <a:pt x="4790" y="1050"/>
                      <a:pt x="7326" y="0"/>
                      <a:pt x="9970" y="0"/>
                    </a:cubicBezTo>
                    <a:close/>
                  </a:path>
                </a:pathLst>
              </a:custGeom>
              <a:solidFill>
                <a:srgbClr val="BF5CC0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66675"/>
                <a:ext cx="6055233" cy="6692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227738" y="397620"/>
              <a:ext cx="17766427" cy="1150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i="1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Problem identified : recall too low — models miss most high-engagement posts due to class imbalance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3449029" y="3707372"/>
          <a:ext cx="4291971" cy="3619500"/>
        </p:xfrm>
        <a:graphic>
          <a:graphicData uri="http://schemas.openxmlformats.org/drawingml/2006/table">
            <a:tbl>
              <a:tblPr/>
              <a:tblGrid>
                <a:gridCol w="214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487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Approach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5C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Best 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5C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Baseline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88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0.24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C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Class weighted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88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0.94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C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SMOTE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88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0.86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C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1713186" y="8356895"/>
            <a:ext cx="15166427" cy="1509243"/>
            <a:chOff x="0" y="0"/>
            <a:chExt cx="6055233" cy="6025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055233" cy="602569"/>
            </a:xfrm>
            <a:custGeom>
              <a:avLst/>
              <a:gdLst/>
              <a:ahLst/>
              <a:cxnLst/>
              <a:rect l="l" t="t" r="r" b="b"/>
              <a:pathLst>
                <a:path w="6055233" h="602569">
                  <a:moveTo>
                    <a:pt x="9970" y="0"/>
                  </a:moveTo>
                  <a:lnTo>
                    <a:pt x="6045263" y="0"/>
                  </a:lnTo>
                  <a:cubicBezTo>
                    <a:pt x="6050769" y="0"/>
                    <a:pt x="6055233" y="4464"/>
                    <a:pt x="6055233" y="9970"/>
                  </a:cubicBezTo>
                  <a:lnTo>
                    <a:pt x="6055233" y="592599"/>
                  </a:lnTo>
                  <a:cubicBezTo>
                    <a:pt x="6055233" y="595243"/>
                    <a:pt x="6054183" y="597779"/>
                    <a:pt x="6052313" y="599649"/>
                  </a:cubicBezTo>
                  <a:cubicBezTo>
                    <a:pt x="6050443" y="601518"/>
                    <a:pt x="6047907" y="602569"/>
                    <a:pt x="6045263" y="602569"/>
                  </a:cubicBezTo>
                  <a:lnTo>
                    <a:pt x="9970" y="602569"/>
                  </a:lnTo>
                  <a:cubicBezTo>
                    <a:pt x="7326" y="602569"/>
                    <a:pt x="4790" y="601518"/>
                    <a:pt x="2920" y="599649"/>
                  </a:cubicBezTo>
                  <a:cubicBezTo>
                    <a:pt x="1050" y="597779"/>
                    <a:pt x="0" y="595243"/>
                    <a:pt x="0" y="592599"/>
                  </a:cubicBezTo>
                  <a:lnTo>
                    <a:pt x="0" y="9970"/>
                  </a:lnTo>
                  <a:cubicBezTo>
                    <a:pt x="0" y="7326"/>
                    <a:pt x="1050" y="4790"/>
                    <a:pt x="2920" y="2920"/>
                  </a:cubicBezTo>
                  <a:cubicBezTo>
                    <a:pt x="4790" y="1050"/>
                    <a:pt x="7326" y="0"/>
                    <a:pt x="9970" y="0"/>
                  </a:cubicBezTo>
                  <a:close/>
                </a:path>
              </a:pathLst>
            </a:custGeom>
            <a:solidFill>
              <a:srgbClr val="BF5CC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6055233" cy="669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33990" y="8638441"/>
            <a:ext cx="13324820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Key finding : recall improved from 24% to 94% — successfully identified and fixed the class imbalance problem</a:t>
            </a:r>
          </a:p>
        </p:txBody>
      </p:sp>
      <p:sp>
        <p:nvSpPr>
          <p:cNvPr id="7" name="Freeform 7"/>
          <p:cNvSpPr/>
          <p:nvPr/>
        </p:nvSpPr>
        <p:spPr>
          <a:xfrm>
            <a:off x="1065377" y="2149934"/>
            <a:ext cx="11474361" cy="4302885"/>
          </a:xfrm>
          <a:custGeom>
            <a:avLst/>
            <a:gdLst/>
            <a:ahLst/>
            <a:cxnLst/>
            <a:rect l="l" t="t" r="r" b="b"/>
            <a:pathLst>
              <a:path w="11474361" h="4302885">
                <a:moveTo>
                  <a:pt x="0" y="0"/>
                </a:moveTo>
                <a:lnTo>
                  <a:pt x="11474362" y="0"/>
                </a:lnTo>
                <a:lnTo>
                  <a:pt x="11474362" y="4302886"/>
                </a:lnTo>
                <a:lnTo>
                  <a:pt x="0" y="43028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8" name="TextBox 8"/>
          <p:cNvSpPr txBox="1"/>
          <p:nvPr/>
        </p:nvSpPr>
        <p:spPr>
          <a:xfrm>
            <a:off x="1065377" y="346075"/>
            <a:ext cx="5664994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Model improvement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573623" y="2045159"/>
            <a:ext cx="4167377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Two fixes applied: </a:t>
            </a:r>
          </a:p>
          <a:p>
            <a:pPr marL="431801" lvl="1" indent="-215900" algn="l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class_weight='balanced' </a:t>
            </a:r>
          </a:p>
          <a:p>
            <a:pPr marL="431801" lvl="1" indent="-215900" algn="l">
              <a:lnSpc>
                <a:spcPts val="32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SMOTE oversampling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13186" y="8356895"/>
            <a:ext cx="15166427" cy="1509243"/>
            <a:chOff x="0" y="0"/>
            <a:chExt cx="6055233" cy="6025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055233" cy="602569"/>
            </a:xfrm>
            <a:custGeom>
              <a:avLst/>
              <a:gdLst/>
              <a:ahLst/>
              <a:cxnLst/>
              <a:rect l="l" t="t" r="r" b="b"/>
              <a:pathLst>
                <a:path w="6055233" h="602569">
                  <a:moveTo>
                    <a:pt x="9970" y="0"/>
                  </a:moveTo>
                  <a:lnTo>
                    <a:pt x="6045263" y="0"/>
                  </a:lnTo>
                  <a:cubicBezTo>
                    <a:pt x="6050769" y="0"/>
                    <a:pt x="6055233" y="4464"/>
                    <a:pt x="6055233" y="9970"/>
                  </a:cubicBezTo>
                  <a:lnTo>
                    <a:pt x="6055233" y="592599"/>
                  </a:lnTo>
                  <a:cubicBezTo>
                    <a:pt x="6055233" y="595243"/>
                    <a:pt x="6054183" y="597779"/>
                    <a:pt x="6052313" y="599649"/>
                  </a:cubicBezTo>
                  <a:cubicBezTo>
                    <a:pt x="6050443" y="601518"/>
                    <a:pt x="6047907" y="602569"/>
                    <a:pt x="6045263" y="602569"/>
                  </a:cubicBezTo>
                  <a:lnTo>
                    <a:pt x="9970" y="602569"/>
                  </a:lnTo>
                  <a:cubicBezTo>
                    <a:pt x="7326" y="602569"/>
                    <a:pt x="4790" y="601518"/>
                    <a:pt x="2920" y="599649"/>
                  </a:cubicBezTo>
                  <a:cubicBezTo>
                    <a:pt x="1050" y="597779"/>
                    <a:pt x="0" y="595243"/>
                    <a:pt x="0" y="592599"/>
                  </a:cubicBezTo>
                  <a:lnTo>
                    <a:pt x="0" y="9970"/>
                  </a:lnTo>
                  <a:cubicBezTo>
                    <a:pt x="0" y="7326"/>
                    <a:pt x="1050" y="4790"/>
                    <a:pt x="2920" y="2920"/>
                  </a:cubicBezTo>
                  <a:cubicBezTo>
                    <a:pt x="4790" y="1050"/>
                    <a:pt x="7326" y="0"/>
                    <a:pt x="9970" y="0"/>
                  </a:cubicBezTo>
                  <a:close/>
                </a:path>
              </a:pathLst>
            </a:custGeom>
            <a:solidFill>
              <a:srgbClr val="BF5CC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6055233" cy="669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891503"/>
            <a:ext cx="9778870" cy="2503619"/>
          </a:xfrm>
          <a:custGeom>
            <a:avLst/>
            <a:gdLst/>
            <a:ahLst/>
            <a:cxnLst/>
            <a:rect l="l" t="t" r="r" b="b"/>
            <a:pathLst>
              <a:path w="9778870" h="2503619">
                <a:moveTo>
                  <a:pt x="0" y="0"/>
                </a:moveTo>
                <a:lnTo>
                  <a:pt x="9778870" y="0"/>
                </a:lnTo>
                <a:lnTo>
                  <a:pt x="9778870" y="2503619"/>
                </a:lnTo>
                <a:lnTo>
                  <a:pt x="0" y="25036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238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7565928" y="4924258"/>
            <a:ext cx="9693372" cy="3105895"/>
          </a:xfrm>
          <a:custGeom>
            <a:avLst/>
            <a:gdLst/>
            <a:ahLst/>
            <a:cxnLst/>
            <a:rect l="l" t="t" r="r" b="b"/>
            <a:pathLst>
              <a:path w="9693372" h="3105895">
                <a:moveTo>
                  <a:pt x="0" y="0"/>
                </a:moveTo>
                <a:lnTo>
                  <a:pt x="9693372" y="0"/>
                </a:lnTo>
                <a:lnTo>
                  <a:pt x="9693372" y="3105894"/>
                </a:lnTo>
                <a:lnTo>
                  <a:pt x="0" y="31058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966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2633990" y="8638441"/>
            <a:ext cx="13324820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Before : models correctly caught only 34–44 high-engagement posts out of 180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After : significantly improved true positive rate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5377" y="346075"/>
            <a:ext cx="6859423" cy="1212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 dirty="0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Confusion matrices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96424" y="2220101"/>
            <a:ext cx="1334524" cy="1334524"/>
          </a:xfrm>
          <a:custGeom>
            <a:avLst/>
            <a:gdLst/>
            <a:ahLst/>
            <a:cxnLst/>
            <a:rect l="l" t="t" r="r" b="b"/>
            <a:pathLst>
              <a:path w="1334524" h="1334524">
                <a:moveTo>
                  <a:pt x="0" y="0"/>
                </a:moveTo>
                <a:lnTo>
                  <a:pt x="1334525" y="0"/>
                </a:lnTo>
                <a:lnTo>
                  <a:pt x="1334525" y="1334524"/>
                </a:lnTo>
                <a:lnTo>
                  <a:pt x="0" y="1334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685920" y="3747386"/>
            <a:ext cx="1334524" cy="1334524"/>
          </a:xfrm>
          <a:custGeom>
            <a:avLst/>
            <a:gdLst/>
            <a:ahLst/>
            <a:cxnLst/>
            <a:rect l="l" t="t" r="r" b="b"/>
            <a:pathLst>
              <a:path w="1334524" h="1334524">
                <a:moveTo>
                  <a:pt x="0" y="0"/>
                </a:moveTo>
                <a:lnTo>
                  <a:pt x="1334524" y="0"/>
                </a:lnTo>
                <a:lnTo>
                  <a:pt x="1334524" y="1334524"/>
                </a:lnTo>
                <a:lnTo>
                  <a:pt x="0" y="13345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996424" y="5254077"/>
            <a:ext cx="1335099" cy="1335099"/>
          </a:xfrm>
          <a:custGeom>
            <a:avLst/>
            <a:gdLst/>
            <a:ahLst/>
            <a:cxnLst/>
            <a:rect l="l" t="t" r="r" b="b"/>
            <a:pathLst>
              <a:path w="1335099" h="1335099">
                <a:moveTo>
                  <a:pt x="0" y="0"/>
                </a:moveTo>
                <a:lnTo>
                  <a:pt x="1335099" y="0"/>
                </a:lnTo>
                <a:lnTo>
                  <a:pt x="1335099" y="1335099"/>
                </a:lnTo>
                <a:lnTo>
                  <a:pt x="0" y="13350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760426" y="6763002"/>
            <a:ext cx="1339148" cy="1339148"/>
          </a:xfrm>
          <a:custGeom>
            <a:avLst/>
            <a:gdLst/>
            <a:ahLst/>
            <a:cxnLst/>
            <a:rect l="l" t="t" r="r" b="b"/>
            <a:pathLst>
              <a:path w="1339148" h="1339148">
                <a:moveTo>
                  <a:pt x="0" y="0"/>
                </a:moveTo>
                <a:lnTo>
                  <a:pt x="1339148" y="0"/>
                </a:lnTo>
                <a:lnTo>
                  <a:pt x="1339148" y="1339148"/>
                </a:lnTo>
                <a:lnTo>
                  <a:pt x="0" y="1339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996424" y="8283476"/>
            <a:ext cx="1339631" cy="1339631"/>
          </a:xfrm>
          <a:custGeom>
            <a:avLst/>
            <a:gdLst/>
            <a:ahLst/>
            <a:cxnLst/>
            <a:rect l="l" t="t" r="r" b="b"/>
            <a:pathLst>
              <a:path w="1339631" h="1339631">
                <a:moveTo>
                  <a:pt x="0" y="0"/>
                </a:moveTo>
                <a:lnTo>
                  <a:pt x="1339632" y="0"/>
                </a:lnTo>
                <a:lnTo>
                  <a:pt x="1339632" y="1339631"/>
                </a:lnTo>
                <a:lnTo>
                  <a:pt x="0" y="13396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29011" y="149152"/>
            <a:ext cx="6918988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Final findings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84937" y="2615404"/>
            <a:ext cx="4921816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Breakup posts trend positive — mean sentiment +0.17 despite painful topics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45845" y="4009477"/>
            <a:ext cx="4921816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Vocabulary barely changes between positive and negative posts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41455" y="5527927"/>
            <a:ext cx="4921816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Sentiment has near-zero correlation with engagement (-0.02)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45845" y="7038876"/>
            <a:ext cx="4921816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Comment count is the strongest predictor (importance 0.50)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46562" y="8559591"/>
            <a:ext cx="4921816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 clear relationship themes identified through LDA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5694775"/>
            <a:ext cx="8555637" cy="3898713"/>
            <a:chOff x="0" y="0"/>
            <a:chExt cx="1760419" cy="8022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0419" cy="802204"/>
            </a:xfrm>
            <a:custGeom>
              <a:avLst/>
              <a:gdLst/>
              <a:ahLst/>
              <a:cxnLst/>
              <a:rect l="l" t="t" r="r" b="b"/>
              <a:pathLst>
                <a:path w="1760419" h="802204">
                  <a:moveTo>
                    <a:pt x="17674" y="0"/>
                  </a:moveTo>
                  <a:lnTo>
                    <a:pt x="1742745" y="0"/>
                  </a:lnTo>
                  <a:cubicBezTo>
                    <a:pt x="1752506" y="0"/>
                    <a:pt x="1760419" y="7913"/>
                    <a:pt x="1760419" y="17674"/>
                  </a:cubicBezTo>
                  <a:lnTo>
                    <a:pt x="1760419" y="784531"/>
                  </a:lnTo>
                  <a:cubicBezTo>
                    <a:pt x="1760419" y="789218"/>
                    <a:pt x="1758557" y="793713"/>
                    <a:pt x="1755243" y="797028"/>
                  </a:cubicBezTo>
                  <a:cubicBezTo>
                    <a:pt x="1751928" y="800342"/>
                    <a:pt x="1747433" y="802204"/>
                    <a:pt x="1742745" y="802204"/>
                  </a:cubicBezTo>
                  <a:lnTo>
                    <a:pt x="17674" y="802204"/>
                  </a:lnTo>
                  <a:cubicBezTo>
                    <a:pt x="7913" y="802204"/>
                    <a:pt x="0" y="794292"/>
                    <a:pt x="0" y="784531"/>
                  </a:cubicBezTo>
                  <a:lnTo>
                    <a:pt x="0" y="17674"/>
                  </a:lnTo>
                  <a:cubicBezTo>
                    <a:pt x="0" y="7913"/>
                    <a:pt x="7913" y="0"/>
                    <a:pt x="17674" y="0"/>
                  </a:cubicBezTo>
                  <a:close/>
                </a:path>
              </a:pathLst>
            </a:custGeom>
            <a:solidFill>
              <a:srgbClr val="7F338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760419" cy="868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091150"/>
            <a:ext cx="7542817" cy="360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20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Post timing matters : publishing during peak hours increases visibility</a:t>
            </a:r>
          </a:p>
          <a:p>
            <a:pPr marL="431801" lvl="1" indent="-215900" algn="l">
              <a:lnSpc>
                <a:spcPts val="320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Focus on narrative depth not emotional intensity : body_length predicts engagement better than sentiment</a:t>
            </a:r>
          </a:p>
          <a:p>
            <a:pPr marL="431801" lvl="1" indent="-215900" algn="l">
              <a:lnSpc>
                <a:spcPts val="320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Community moderators can use this model to triage high-potential posts in real time</a:t>
            </a:r>
          </a:p>
          <a:p>
            <a:pPr marL="431801" lvl="1" indent="-215900" algn="l">
              <a:lnSpc>
                <a:spcPts val="320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Platform designers should surface posts by structural signals, not just recency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46075"/>
            <a:ext cx="5417518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Recommendations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80830" y="5925187"/>
            <a:ext cx="7844297" cy="320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200"/>
              </a:lnSpc>
              <a:buFont typeface="Arial"/>
              <a:buChar char="•"/>
            </a:pPr>
            <a:r>
              <a:rPr lang="en-US" sz="2000" i="1">
                <a:solidFill>
                  <a:srgbClr val="F2F2F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Dataset is a static snapshot : community behavior changes over time</a:t>
            </a:r>
          </a:p>
          <a:p>
            <a:pPr marL="431801" lvl="1" indent="-215900" algn="l">
              <a:lnSpc>
                <a:spcPts val="3200"/>
              </a:lnSpc>
              <a:buFont typeface="Arial"/>
              <a:buChar char="•"/>
            </a:pPr>
            <a:r>
              <a:rPr lang="en-US" sz="2000" i="1">
                <a:solidFill>
                  <a:srgbClr val="F2F2F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External virality drivers not captured (cross-platform sharing, trending topics)</a:t>
            </a:r>
          </a:p>
          <a:p>
            <a:pPr marL="431801" lvl="1" indent="-215900" algn="l">
              <a:lnSpc>
                <a:spcPts val="3200"/>
              </a:lnSpc>
              <a:buFont typeface="Arial"/>
              <a:buChar char="•"/>
            </a:pPr>
            <a:r>
              <a:rPr lang="en-US" sz="2000" i="1">
                <a:solidFill>
                  <a:srgbClr val="F2F2F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Binary engagement label oversimplifies a continuous phenomenon</a:t>
            </a:r>
          </a:p>
          <a:p>
            <a:pPr marL="431801" lvl="1" indent="-215900" algn="l">
              <a:lnSpc>
                <a:spcPts val="3200"/>
              </a:lnSpc>
              <a:buFont typeface="Arial"/>
              <a:buChar char="•"/>
            </a:pPr>
            <a:r>
              <a:rPr lang="en-US" sz="2000" i="1">
                <a:solidFill>
                  <a:srgbClr val="F2F2F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Bot/moderation posts required filtering : 825 rows removed from LDA corpus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0" y="3792950"/>
            <a:ext cx="3550827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Limitations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5663" y="3330478"/>
            <a:ext cx="4047183" cy="3103144"/>
            <a:chOff x="0" y="0"/>
            <a:chExt cx="5396244" cy="413752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5396244" cy="4137526"/>
              <a:chOff x="0" y="0"/>
              <a:chExt cx="729694" cy="55948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29694" cy="559487"/>
              </a:xfrm>
              <a:custGeom>
                <a:avLst/>
                <a:gdLst/>
                <a:ahLst/>
                <a:cxnLst/>
                <a:rect l="l" t="t" r="r" b="b"/>
                <a:pathLst>
                  <a:path w="729694" h="559487">
                    <a:moveTo>
                      <a:pt x="729694" y="279743"/>
                    </a:moveTo>
                    <a:lnTo>
                      <a:pt x="526494" y="559487"/>
                    </a:lnTo>
                    <a:lnTo>
                      <a:pt x="203200" y="559487"/>
                    </a:lnTo>
                    <a:lnTo>
                      <a:pt x="0" y="279743"/>
                    </a:lnTo>
                    <a:lnTo>
                      <a:pt x="203200" y="0"/>
                    </a:lnTo>
                    <a:lnTo>
                      <a:pt x="526494" y="0"/>
                    </a:lnTo>
                    <a:lnTo>
                      <a:pt x="729694" y="279743"/>
                    </a:lnTo>
                    <a:close/>
                  </a:path>
                </a:pathLst>
              </a:custGeom>
              <a:solidFill>
                <a:srgbClr val="4B164C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114300" y="-66675"/>
                <a:ext cx="501094" cy="626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592595" y="1096155"/>
              <a:ext cx="4211055" cy="1878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2F2F2"/>
                  </a:solidFill>
                  <a:latin typeface="Poppins"/>
                  <a:ea typeface="Poppins"/>
                  <a:cs typeface="Poppins"/>
                  <a:sym typeface="Poppins"/>
                </a:rPr>
                <a:t>BERT or transformer-based embeddings for deeper semantic understanding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346075"/>
            <a:ext cx="7238465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Future improvements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096817" y="5593052"/>
            <a:ext cx="4047183" cy="3103144"/>
            <a:chOff x="0" y="0"/>
            <a:chExt cx="5396244" cy="4137526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5396244" cy="4137526"/>
              <a:chOff x="0" y="0"/>
              <a:chExt cx="729694" cy="55948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29694" cy="559487"/>
              </a:xfrm>
              <a:custGeom>
                <a:avLst/>
                <a:gdLst/>
                <a:ahLst/>
                <a:cxnLst/>
                <a:rect l="l" t="t" r="r" b="b"/>
                <a:pathLst>
                  <a:path w="729694" h="559487">
                    <a:moveTo>
                      <a:pt x="729694" y="279743"/>
                    </a:moveTo>
                    <a:lnTo>
                      <a:pt x="526494" y="559487"/>
                    </a:lnTo>
                    <a:lnTo>
                      <a:pt x="203200" y="559487"/>
                    </a:lnTo>
                    <a:lnTo>
                      <a:pt x="0" y="279743"/>
                    </a:lnTo>
                    <a:lnTo>
                      <a:pt x="203200" y="0"/>
                    </a:lnTo>
                    <a:lnTo>
                      <a:pt x="526494" y="0"/>
                    </a:lnTo>
                    <a:lnTo>
                      <a:pt x="729694" y="279743"/>
                    </a:lnTo>
                    <a:close/>
                  </a:path>
                </a:pathLst>
              </a:custGeom>
              <a:solidFill>
                <a:srgbClr val="7F3380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4300" y="-66675"/>
                <a:ext cx="501094" cy="626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592595" y="1331105"/>
              <a:ext cx="4211055" cy="1408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F2F2F2"/>
                  </a:solidFill>
                  <a:latin typeface="Poppins"/>
                  <a:ea typeface="Poppins"/>
                  <a:cs typeface="Poppins"/>
                  <a:sym typeface="Poppins"/>
                </a:rPr>
                <a:t>Time-series modeling to capture engagement velocity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799989" y="3330478"/>
            <a:ext cx="4047183" cy="3103144"/>
            <a:chOff x="0" y="0"/>
            <a:chExt cx="729694" cy="55948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29694" cy="559487"/>
            </a:xfrm>
            <a:custGeom>
              <a:avLst/>
              <a:gdLst/>
              <a:ahLst/>
              <a:cxnLst/>
              <a:rect l="l" t="t" r="r" b="b"/>
              <a:pathLst>
                <a:path w="729694" h="559487">
                  <a:moveTo>
                    <a:pt x="729694" y="279743"/>
                  </a:moveTo>
                  <a:lnTo>
                    <a:pt x="526494" y="559487"/>
                  </a:lnTo>
                  <a:lnTo>
                    <a:pt x="203200" y="559487"/>
                  </a:lnTo>
                  <a:lnTo>
                    <a:pt x="0" y="279743"/>
                  </a:lnTo>
                  <a:lnTo>
                    <a:pt x="203200" y="0"/>
                  </a:lnTo>
                  <a:lnTo>
                    <a:pt x="526494" y="0"/>
                  </a:lnTo>
                  <a:lnTo>
                    <a:pt x="729694" y="279743"/>
                  </a:lnTo>
                  <a:close/>
                </a:path>
              </a:pathLst>
            </a:custGeom>
            <a:solidFill>
              <a:srgbClr val="BF5CC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14300" y="-66675"/>
              <a:ext cx="501094" cy="6261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244435" y="4312138"/>
            <a:ext cx="3158291" cy="107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Multi-class engagement labels (Low / Medium / Viral)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655114" y="5385288"/>
            <a:ext cx="4047183" cy="3103144"/>
            <a:chOff x="0" y="0"/>
            <a:chExt cx="729694" cy="55948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29694" cy="559487"/>
            </a:xfrm>
            <a:custGeom>
              <a:avLst/>
              <a:gdLst/>
              <a:ahLst/>
              <a:cxnLst/>
              <a:rect l="l" t="t" r="r" b="b"/>
              <a:pathLst>
                <a:path w="729694" h="559487">
                  <a:moveTo>
                    <a:pt x="729694" y="279743"/>
                  </a:moveTo>
                  <a:lnTo>
                    <a:pt x="526494" y="559487"/>
                  </a:lnTo>
                  <a:lnTo>
                    <a:pt x="203200" y="559487"/>
                  </a:lnTo>
                  <a:lnTo>
                    <a:pt x="0" y="279743"/>
                  </a:lnTo>
                  <a:lnTo>
                    <a:pt x="203200" y="0"/>
                  </a:lnTo>
                  <a:lnTo>
                    <a:pt x="526494" y="0"/>
                  </a:lnTo>
                  <a:lnTo>
                    <a:pt x="729694" y="279743"/>
                  </a:lnTo>
                  <a:close/>
                </a:path>
              </a:pathLst>
            </a:custGeom>
            <a:solidFill>
              <a:srgbClr val="DD88C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14300" y="-66675"/>
              <a:ext cx="501094" cy="6261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3099560" y="6543160"/>
            <a:ext cx="3158291" cy="72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2F2F2"/>
                </a:solidFill>
                <a:latin typeface="Poppins"/>
                <a:ea typeface="Poppins"/>
                <a:cs typeface="Poppins"/>
                <a:sym typeface="Poppins"/>
              </a:rPr>
              <a:t>Cross-platform data integration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193224"/>
            <a:ext cx="12561157" cy="278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9"/>
              </a:lnSpc>
            </a:pP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project demonstrated that online relationship engagement is driven by structural and temporal factors — not emotional content. Starting from two raw Reddit datasets, we built a full analytics pipeline covering text cleaning, sentiment scoring, topic clustering, and classification modeling. By identifying and fixing class imbalance, we raised recall from 24% to 94%. The Sentiment Paradox — the finding that emotional tone barely predicts virality — is the central contribution of this work.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117100"/>
            <a:ext cx="5172075" cy="121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Conclusion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4268478" y="6790714"/>
            <a:ext cx="5981644" cy="5877472"/>
            <a:chOff x="0" y="0"/>
            <a:chExt cx="7975526" cy="7836629"/>
          </a:xfrm>
        </p:grpSpPr>
        <p:sp>
          <p:nvSpPr>
            <p:cNvPr id="5" name="Freeform 5"/>
            <p:cNvSpPr/>
            <p:nvPr/>
          </p:nvSpPr>
          <p:spPr>
            <a:xfrm flipH="1">
              <a:off x="782228" y="0"/>
              <a:ext cx="7193298" cy="7180219"/>
            </a:xfrm>
            <a:custGeom>
              <a:avLst/>
              <a:gdLst/>
              <a:ahLst/>
              <a:cxnLst/>
              <a:rect l="l" t="t" r="r" b="b"/>
              <a:pathLst>
                <a:path w="7193298" h="7180219">
                  <a:moveTo>
                    <a:pt x="7193298" y="0"/>
                  </a:moveTo>
                  <a:lnTo>
                    <a:pt x="0" y="0"/>
                  </a:lnTo>
                  <a:lnTo>
                    <a:pt x="0" y="7180219"/>
                  </a:lnTo>
                  <a:lnTo>
                    <a:pt x="7193298" y="7180219"/>
                  </a:lnTo>
                  <a:lnTo>
                    <a:pt x="7193298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flipH="1">
              <a:off x="0" y="656410"/>
              <a:ext cx="7193298" cy="7180219"/>
            </a:xfrm>
            <a:custGeom>
              <a:avLst/>
              <a:gdLst/>
              <a:ahLst/>
              <a:cxnLst/>
              <a:rect l="l" t="t" r="r" b="b"/>
              <a:pathLst>
                <a:path w="7193298" h="7180219">
                  <a:moveTo>
                    <a:pt x="7193298" y="0"/>
                  </a:moveTo>
                  <a:lnTo>
                    <a:pt x="0" y="0"/>
                  </a:lnTo>
                  <a:lnTo>
                    <a:pt x="0" y="7180219"/>
                  </a:lnTo>
                  <a:lnTo>
                    <a:pt x="7193298" y="7180219"/>
                  </a:lnTo>
                  <a:lnTo>
                    <a:pt x="7193298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93783" y="2837255"/>
            <a:ext cx="8900435" cy="2486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31"/>
              </a:lnSpc>
              <a:spcBef>
                <a:spcPct val="0"/>
              </a:spcBef>
            </a:pPr>
            <a:r>
              <a:rPr lang="en-US" sz="14236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5883849" y="7054486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3" y="5385164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5297178" y="7546793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4"/>
                </a:lnTo>
                <a:lnTo>
                  <a:pt x="5394973" y="5385164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404151" y="-1635109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5"/>
                </a:lnTo>
                <a:lnTo>
                  <a:pt x="5394973" y="5385165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-2990822" y="-1142802"/>
            <a:ext cx="5394974" cy="5385164"/>
          </a:xfrm>
          <a:custGeom>
            <a:avLst/>
            <a:gdLst/>
            <a:ahLst/>
            <a:cxnLst/>
            <a:rect l="l" t="t" r="r" b="b"/>
            <a:pathLst>
              <a:path w="5394974" h="5385164">
                <a:moveTo>
                  <a:pt x="5394973" y="0"/>
                </a:moveTo>
                <a:lnTo>
                  <a:pt x="0" y="0"/>
                </a:lnTo>
                <a:lnTo>
                  <a:pt x="0" y="5385165"/>
                </a:lnTo>
                <a:lnTo>
                  <a:pt x="5394973" y="5385165"/>
                </a:lnTo>
                <a:lnTo>
                  <a:pt x="53949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693783" y="5228371"/>
            <a:ext cx="8900435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Sugo Display"/>
                <a:ea typeface="Sugo Display"/>
                <a:cs typeface="Sugo Display"/>
                <a:sym typeface="Sugo Display"/>
              </a:rPr>
              <a:t>Questions are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1207</Words>
  <Application>Microsoft Office PowerPoint</Application>
  <PresentationFormat>Custom</PresentationFormat>
  <Paragraphs>181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Poppins Italics</vt:lpstr>
      <vt:lpstr>Calibri</vt:lpstr>
      <vt:lpstr>Poppins</vt:lpstr>
      <vt:lpstr>Poppins Bold</vt:lpstr>
      <vt:lpstr>Sugo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final presentation</dc:title>
  <cp:lastModifiedBy>Okah Ahone Ebwekoh</cp:lastModifiedBy>
  <cp:revision>2</cp:revision>
  <dcterms:created xsi:type="dcterms:W3CDTF">2006-08-16T00:00:00Z</dcterms:created>
  <dcterms:modified xsi:type="dcterms:W3CDTF">2026-07-11T13:45:09Z</dcterms:modified>
  <dc:identifier>DAHOnAYIAKU</dc:identifier>
</cp:coreProperties>
</file>